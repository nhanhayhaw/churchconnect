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00" d="100"/>
          <a:sy n="100" d="100"/>
        </p:scale>
        <p:origin x="62" y="5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861333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it in ONE sentence and resist explaining anything yet:
  "This is a system for knowing our people - not just counting them."
Then move straight to the next slide. Do not open with features.
The system is already built and online; the screens in this deck are real
captures with demonstration data (fictional names). Say so if asked.</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emotional centre of the whole presentation.
ASK THE QUESTION, THEN STOP TALKING. Let it sit for a few seconds. The silence
is doing the work.
Then answer it honestly:
  "In most churches the answer is months. And usually it is noticed by accident -
   when someone happens to ask after them. By then the person has often already
   decided they are no longer part of us."
Immediately protect the room:
  "Nobody has failed here. The information simply was not in front of anyone.
   That is what we are fixing."
Return to this question on the final slide.</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WATCH YOUR TONE HERE. This is not a criticism of anyone's faithfulness - it is a
description of what happens when good people work without good information.
Say that out loud. It keeps the room with you:
  "None of this is anyone's fault. It is what happens when committed people are
   asked to hold hundreds of names in their heads."
Do not read all five rows. Read the first one, and let them scan the rest.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at the two questions in gold.
  "Every church can answer the first two with enough effort. Almost none can
   answer the two in gold - and those are the two that actually decide whether
   a person stays with us."
That is where most of the value of this system sits. Everything else is
housekeeping by comparison.</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slide SHORT - about twenty seconds. It exists only to close off the
"what am I actually looking at" question so nobody is distracted for the rest of
the talk.
  "It runs in a browser. The usher marks the register on a phone, the pastor
   reads the alerts on a tablet, the administrator works at a desk. Same system,
   same information, at the same moment."
Then move on.</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four bands top to bottom in about 45 seconds. Do not linger on numbers.
Then make the point that actually matters:
  "Notice the ORDER. What needs attention is at the top - the people, not the
   totals. This screen is arranged by pastoral urgency, not by what was easiest
   to build."
There are also six charts further down the page: attendance trend over twelve
weeks, membership growth, gender split, members by department, members by age,
and attendance by service type. Mention them; do not tour them.</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through the record quickly - it is the least surprising part of the system.
Spend your time on the PHOTOGRAPH, which matters more than it sounds:
  "A leader who has recently joined this congregation can put a face to a name
   before making a call. So can an usher looking for someone who has been away
   for a month."
The Activity Timeline is worth one sentence: every change to a record is kept,
so you can see what happened to it and when.</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Demonstrate the speed, because that is the objection you will get:
  "Mark All Present in one tap, then change the handful who are not there. A
   register of several hundred is a few minutes' work, and it saves in one
   action - not one member at a time."
A register can cover the whole congregation, or a single department or cell.
IF ASKED ABOUT UNMARKED PEOPLE: anyone not marked is recorded as "not recorded",
never as absent. A half-finished register never makes the congregation look
absent, and never triggers a false alert. That safeguard is deliberate.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SLOW DOWN HERE. This is the slide the whole presentation is built towards.
  "Nobody has to remember to check. Every night the system reviews who has been
   missing, and raises a graded alert. Two missed services is a friendly
   check-in. Three is a proper phone call this week. Four - about a month - is a
   pastoral visit."
Then hand back control, which matters to a room being asked to adopt something:
  "The thresholds are ours. If two weeks is too quick for our pattern, we change
   the number ourselves in Settings. It is not fixed by whoever built this."
Do not click away until someone has had a chance to react.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this CLEARLY and without hurrying. It is the concern a thoughtful pastor will
already be forming, and answering it before it is asked buys you enormous
credibility.
  "Absence has many innocent explanations - travel, illness, a new baby, night
   shifts, a work posting, caring for a relative. A computer cannot tell the
   difference between those and someone drifting away, and it should not try."
So the system:
  - never changes anyone's membership status
  - never marks anyone as backslidden or lapsed
  - never contacts a member on its own
Its only output is an alert addressed to a church worker.
SECOND SAFEGUARD, worth mentioning here: if someone tells us in advance that they
will be away and we mark them EXCUSED, the count resets. We do not chase people
who already told us.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card out loud, exactly as it appears. Hearing a name makes it real in a
way that a bullet point never does.
  "Everything needed to act is on the row: who, how long, when they were last
   with us, which department they serve in, and the phone number. The leader
   presses Start Follow-Up, and the case opens."
THE NUMBERS ON THIS SLIDE ARE SAMPLE DATA. Replace them with your own before
presenting, or say so plainly. Either way, land the point:
  "Thirteen conversations that would otherwise not have happened."
John Mensah is a fictional example, not a member of this church.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case carries the member, the level, the officer responsible, and the date of
the next contact. Every attempt is written down - what was said, how contact was
made, what happens next.
READ THE QUOTED NOTE ALOUD, then explain why it matters:
  "That single sentence means the next person to open this case knows exactly
   where it stands. No repeated calls. No awkward second conversation. No case
   quietly dropped because the person handling it travelled."
Then the safeguard:
  "Overdue cases are flagged automatically. A case cannot be forgotten simply
   because it stopped feeling urgent."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one light - it is a breather between two heavy sections.
Birthdays today, this week and this month, each card showing the photograph,
name, date, age, department and phone number. Reminder points are configurable.
STATE THIS PLAINLY, because it is the same principle as the absence alerts:
  "The system does not message the member. It reminds US. Sending greetings stays
   a human act - which is the whole point of it."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distinction is worth stating once, clearly:
  "A department is what a member DOES. A group is where a member BELONGS."
Every member can have one of each.
Then the payoff, which is the real reason this slide exists:
  "This tells us something we usually only guess at - which parts of the church
   are genuinely active, and which have quietly stopped meeting."
That last point often prompts the first honest question of the meeting.</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more assembling figures by hand the night before a council meeting. Choose
   a report, choose the dates, export it."
The small detail at the bottom is worth saying, because anyone who has sat
through a disputed council meeting will recognise it:
  "Every report carries the church name and the date it was produced - so there
   is never confusion about which version is on the table."</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Department Leader who signs in sees only the people in their department. In
   our sample data that is 5 members instead of 62. They cannot reach anyone
   else's record even by trying."
Then the sentence that unlocks the practical benefit:
  "This is what makes it safe to give a dozen leaders access, rather than keeping
   everything with one overloaded administrator."
That reframing usually converts the last sceptic in the room.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by naming the responsibility rather than the feature:
  "This system holds personal information about our congregation - addresses,
   phone numbers, dates of birth, photographs of children. That is a trust, and
   it should be treated as one."
DWELL ON THE AUDIT LOG. It is the point that reassures leaders most:
  "Every view, every change, every deletion is recorded against a named person.
   If a member ever asks 'who has looked at my record?', we can answer. That
   protects our members - and it protects our workers from suspicion."
The Data Protection Act line signals that we have thought past the software.</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answers the question someone will otherwise ask at the worst moment:
"where is all this information actually kept?"
Three pieces, three reputable hosting companies, all in Europe. The database is
backed up every day. Nothing is on anyone's laptop.
If asked about cost: the website and database are on free tiers today; the
application server costs a few dollars a month once we want it to stay awake
around the clock. This is a fraction of what one printed register costs a year.</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PUT THIS SLIDE IN DELIBERATELY, and say why:
  "A presentation that only lists strengths invites suspicion. So here is what
   this does not do."
Naming the limits earns trust now and prevents disappointment in month two.
EMPHASISE THE SECOND POINT. Read the navy panel aloud, slowly:
  "This system tells us who to visit. It does not visit them. The ministry is
   still ours - the system just makes sure we are pointed at the right people."
If the room only remembers one sentence from the whole presentation, this is a
good candidate.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straight to point 4 and be blunt about it:
  "Everything this system does depends on someone marking a register by name,
   every Sunday. If we cannot commit to that, the alerts will be empty and the
   reports meaningless."
  "Better that we settle it now than discover it in three months."
Do not soften this. A leadership team that agrees to point 4 with their eyes open
is worth far more than one that agrees to everything vaguely.
Get names against points 2 and 3 before leaving the room if you can.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Set the expectation about timing explicitly, because it is where enthusiasm
usually turns into disappointment:
  "The system needs history before it can spot a pattern. Alerts cannot appear
   until there are a few weeks of attendance to compare - roughly two months from
   start to the first genuinely useful alert."
  "Say that now, so nobody thinks it has failed in week three."
Phase 2 is the heaviest lift. If asked: roughly two to three minutes per member,
so about 20 hours for 500 members - two or three people over a fortnight.</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Return to the question you asked on slide 2, and answer it.
Read the AFTER line, then STOP TALKING. Do not add a summary, do not thank the
software, do not list the features again. Let the contrast do the work and take
questions.
If you need a single closing line, use:
  "We are not asking to change how we care for people. We are asking to stop
   losing track of who needs it."</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A4A"/>
        </a:solidFill>
        <a:effectLst/>
      </p:bgPr>
    </p:bg>
    <p:spTree>
      <p:nvGrpSpPr>
        <p:cNvPr id="1" name=""/>
        <p:cNvGrpSpPr/>
        <p:nvPr/>
      </p:nvGrpSpPr>
      <p:grpSpPr>
        <a:xfrm>
          <a:off x="0" y="0"/>
          <a:ext cx="0" cy="0"/>
          <a:chOff x="0" y="0"/>
          <a:chExt cx="0" cy="0"/>
        </a:xfrm>
      </p:grpSpPr>
      <p:sp>
        <p:nvSpPr>
          <p:cNvPr id="2" name="Shape 0"/>
          <p:cNvSpPr/>
          <p:nvPr/>
        </p:nvSpPr>
        <p:spPr>
          <a:xfrm>
            <a:off x="5227320" y="0"/>
            <a:ext cx="3916451" cy="5143500"/>
          </a:xfrm>
          <a:prstGeom prst="rect">
            <a:avLst/>
          </a:prstGeom>
          <a:solidFill>
            <a:srgbClr val="1B3050"/>
          </a:solidFill>
          <a:ln w="12700">
            <a:solidFill>
              <a:srgbClr val="1B3050"/>
            </a:solidFill>
            <a:prstDash val="solid"/>
          </a:ln>
        </p:spPr>
        <p:txBody>
          <a:bodyPr/>
          <a:lstStyle/>
          <a:p>
            <a:endParaRPr lang="en-US"/>
          </a:p>
        </p:txBody>
      </p:sp>
      <p:pic>
        <p:nvPicPr>
          <p:cNvPr id="3" name="Image 0"/>
          <p:cNvPicPr>
            <a:picLocks noChangeAspect="1"/>
          </p:cNvPicPr>
          <p:nvPr/>
        </p:nvPicPr>
        <p:blipFill>
          <a:blip r:embed="rId3"/>
          <a:srcRect/>
          <a:stretch/>
        </p:blipFill>
        <p:spPr>
          <a:xfrm>
            <a:off x="5817958" y="1251036"/>
            <a:ext cx="2735175" cy="2641428"/>
          </a:xfrm>
          <a:prstGeom prst="rect">
            <a:avLst/>
          </a:prstGeom>
        </p:spPr>
      </p:pic>
      <p:sp>
        <p:nvSpPr>
          <p:cNvPr id="4" name="Text 1"/>
          <p:cNvSpPr/>
          <p:nvPr/>
        </p:nvSpPr>
        <p:spPr>
          <a:xfrm>
            <a:off x="651510" y="1543050"/>
            <a:ext cx="5486400" cy="617219"/>
          </a:xfrm>
          <a:prstGeom prst="rect">
            <a:avLst/>
          </a:prstGeom>
          <a:noFill/>
          <a:ln/>
        </p:spPr>
        <p:txBody>
          <a:bodyPr wrap="square" rtlCol="0" anchor="ctr"/>
          <a:lstStyle/>
          <a:p>
            <a:pPr marL="0" indent="0">
              <a:buNone/>
            </a:pPr>
            <a:r>
              <a:rPr lang="en-US" sz="3450" b="1" kern="0" spc="300" dirty="0">
                <a:solidFill>
                  <a:srgbClr val="FFFFFF"/>
                </a:solidFill>
                <a:latin typeface="Calibri" pitchFamily="34" charset="0"/>
                <a:ea typeface="Calibri" pitchFamily="34" charset="-122"/>
                <a:cs typeface="Calibri" pitchFamily="34" charset="-120"/>
              </a:rPr>
              <a:t>RT AG CONNECT</a:t>
            </a:r>
            <a:endParaRPr lang="en-US" sz="3450" dirty="0"/>
          </a:p>
        </p:txBody>
      </p:sp>
      <p:sp>
        <p:nvSpPr>
          <p:cNvPr id="5" name="Text 2"/>
          <p:cNvSpPr/>
          <p:nvPr/>
        </p:nvSpPr>
        <p:spPr>
          <a:xfrm>
            <a:off x="651510" y="2228850"/>
            <a:ext cx="5212080" cy="685800"/>
          </a:xfrm>
          <a:prstGeom prst="rect">
            <a:avLst/>
          </a:prstGeom>
          <a:noFill/>
          <a:ln/>
        </p:spPr>
        <p:txBody>
          <a:bodyPr wrap="square" rtlCol="0" anchor="ctr"/>
          <a:lstStyle/>
          <a:p>
            <a:pPr marL="0" indent="0">
              <a:lnSpc>
                <a:spcPts val="2600"/>
              </a:lnSpc>
              <a:buNone/>
            </a:pPr>
            <a:r>
              <a:rPr lang="en-US" sz="1450" dirty="0">
                <a:solidFill>
                  <a:srgbClr val="C5D3E4"/>
                </a:solidFill>
                <a:latin typeface="Calibri" pitchFamily="34" charset="0"/>
                <a:ea typeface="Calibri" pitchFamily="34" charset="-122"/>
                <a:cs typeface="Calibri" pitchFamily="34" charset="-120"/>
              </a:rPr>
              <a:t>Church Membership, Attendance &amp; Follow-Up</a:t>
            </a:r>
            <a:endParaRPr lang="en-US" sz="1450" dirty="0"/>
          </a:p>
          <a:p>
            <a:pPr marL="0" indent="0">
              <a:lnSpc>
                <a:spcPts val="2600"/>
              </a:lnSpc>
              <a:buNone/>
            </a:pPr>
            <a:r>
              <a:rPr lang="en-US" sz="1450" dirty="0">
                <a:solidFill>
                  <a:srgbClr val="C5D3E4"/>
                </a:solidFill>
                <a:latin typeface="Calibri" pitchFamily="34" charset="0"/>
                <a:ea typeface="Calibri" pitchFamily="34" charset="-122"/>
                <a:cs typeface="Calibri" pitchFamily="34" charset="-120"/>
              </a:rPr>
              <a:t>Management System</a:t>
            </a:r>
            <a:endParaRPr lang="en-US" sz="1450" dirty="0"/>
          </a:p>
        </p:txBody>
      </p:sp>
      <p:sp>
        <p:nvSpPr>
          <p:cNvPr id="6" name="Text 3"/>
          <p:cNvSpPr/>
          <p:nvPr/>
        </p:nvSpPr>
        <p:spPr>
          <a:xfrm>
            <a:off x="651510" y="3154679"/>
            <a:ext cx="5212080" cy="548640"/>
          </a:xfrm>
          <a:prstGeom prst="rect">
            <a:avLst/>
          </a:prstGeom>
          <a:noFill/>
          <a:ln/>
        </p:spPr>
        <p:txBody>
          <a:bodyPr wrap="square" rtlCol="0" anchor="ctr"/>
          <a:lstStyle/>
          <a:p>
            <a:pPr marL="0" indent="0">
              <a:lnSpc>
                <a:spcPts val="2000"/>
              </a:lnSpc>
              <a:buNone/>
            </a:pPr>
            <a:r>
              <a:rPr lang="en-US" sz="1050" i="1" dirty="0">
                <a:solidFill>
                  <a:srgbClr val="DBB877"/>
                </a:solidFill>
                <a:latin typeface="Calibri" pitchFamily="34" charset="0"/>
                <a:ea typeface="Calibri" pitchFamily="34" charset="-122"/>
                <a:cs typeface="Calibri" pitchFamily="34" charset="-120"/>
              </a:rPr>
              <a:t>A Smart Digital Platform for Effective</a:t>
            </a:r>
            <a:endParaRPr lang="en-US" sz="1050" dirty="0"/>
          </a:p>
          <a:p>
            <a:pPr marL="0" indent="0">
              <a:lnSpc>
                <a:spcPts val="2000"/>
              </a:lnSpc>
              <a:buNone/>
            </a:pPr>
            <a:r>
              <a:rPr lang="en-US" sz="1050" i="1" dirty="0">
                <a:solidFill>
                  <a:srgbClr val="DBB877"/>
                </a:solidFill>
                <a:latin typeface="Calibri" pitchFamily="34" charset="0"/>
                <a:ea typeface="Calibri" pitchFamily="34" charset="-122"/>
                <a:cs typeface="Calibri" pitchFamily="34" charset="-120"/>
              </a:rPr>
              <a:t>Church Membership Management</a:t>
            </a:r>
            <a:endParaRPr lang="en-US" sz="1050" dirty="0"/>
          </a:p>
        </p:txBody>
      </p:sp>
      <p:sp>
        <p:nvSpPr>
          <p:cNvPr id="7" name="Text 4"/>
          <p:cNvSpPr/>
          <p:nvPr/>
        </p:nvSpPr>
        <p:spPr>
          <a:xfrm>
            <a:off x="651510" y="4286250"/>
            <a:ext cx="5212080" cy="274320"/>
          </a:xfrm>
          <a:prstGeom prst="rect">
            <a:avLst/>
          </a:prstGeom>
          <a:noFill/>
          <a:ln/>
        </p:spPr>
        <p:txBody>
          <a:bodyPr wrap="square" rtlCol="0" anchor="ctr"/>
          <a:lstStyle/>
          <a:p>
            <a:pPr marL="0" indent="0">
              <a:buNone/>
            </a:pPr>
            <a:r>
              <a:rPr lang="en-US" sz="1000" dirty="0">
                <a:solidFill>
                  <a:srgbClr val="9BB2CD"/>
                </a:solidFill>
                <a:latin typeface="Calibri" pitchFamily="34" charset="0"/>
                <a:ea typeface="Calibri" pitchFamily="34" charset="-122"/>
                <a:cs typeface="Calibri" pitchFamily="34" charset="-120"/>
              </a:rPr>
              <a:t>Redemption Temple AG   ·   Board briefing · September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F2A4A"/>
        </a:solidFill>
        <a:effectLst/>
      </p:bgPr>
    </p:bg>
    <p:spTree>
      <p:nvGrpSpPr>
        <p:cNvPr id="1" name=""/>
        <p:cNvGrpSpPr/>
        <p:nvPr/>
      </p:nvGrpSpPr>
      <p:grpSpPr>
        <a:xfrm>
          <a:off x="0" y="0"/>
          <a:ext cx="0" cy="0"/>
          <a:chOff x="0" y="0"/>
          <a:chExt cx="0" cy="0"/>
        </a:xfrm>
      </p:grpSpPr>
      <p:sp>
        <p:nvSpPr>
          <p:cNvPr id="2" name="Text 0"/>
          <p:cNvSpPr/>
          <p:nvPr/>
        </p:nvSpPr>
        <p:spPr>
          <a:xfrm>
            <a:off x="822960" y="1714500"/>
            <a:ext cx="7543800" cy="582930"/>
          </a:xfrm>
          <a:prstGeom prst="rect">
            <a:avLst/>
          </a:prstGeom>
          <a:noFill/>
          <a:ln/>
        </p:spPr>
        <p:txBody>
          <a:bodyPr wrap="square" rtlCol="0" anchor="ctr"/>
          <a:lstStyle/>
          <a:p>
            <a:pPr marL="0" indent="0">
              <a:buNone/>
            </a:pPr>
            <a:r>
              <a:rPr lang="en-US" sz="2700" dirty="0">
                <a:solidFill>
                  <a:srgbClr val="C5D3E4"/>
                </a:solidFill>
                <a:latin typeface="Calibri" pitchFamily="34" charset="0"/>
                <a:ea typeface="Calibri" pitchFamily="34" charset="-122"/>
                <a:cs typeface="Calibri" pitchFamily="34" charset="-120"/>
              </a:rPr>
              <a:t>A member stops coming.</a:t>
            </a:r>
            <a:endParaRPr lang="en-US" sz="2700" dirty="0"/>
          </a:p>
        </p:txBody>
      </p:sp>
      <p:sp>
        <p:nvSpPr>
          <p:cNvPr id="3" name="Text 1"/>
          <p:cNvSpPr/>
          <p:nvPr/>
        </p:nvSpPr>
        <p:spPr>
          <a:xfrm>
            <a:off x="822960" y="2366010"/>
            <a:ext cx="7543800" cy="685800"/>
          </a:xfrm>
          <a:prstGeom prst="rect">
            <a:avLst/>
          </a:prstGeom>
          <a:noFill/>
          <a:ln/>
        </p:spPr>
        <p:txBody>
          <a:bodyPr wrap="square" rtlCol="0" anchor="ctr"/>
          <a:lstStyle/>
          <a:p>
            <a:pPr marL="0" indent="0">
              <a:buNone/>
            </a:pPr>
            <a:r>
              <a:rPr lang="en-US" sz="3300" b="1" dirty="0">
                <a:solidFill>
                  <a:srgbClr val="FFFFFF"/>
                </a:solidFill>
                <a:latin typeface="Calibri" pitchFamily="34" charset="0"/>
                <a:ea typeface="Calibri" pitchFamily="34" charset="-122"/>
                <a:cs typeface="Calibri" pitchFamily="34" charset="-120"/>
              </a:rPr>
              <a:t>How long before someone notices?</a:t>
            </a:r>
            <a:endParaRPr lang="en-US" sz="3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80059" y="641223"/>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THE SITUATION TODAY</a:t>
            </a:r>
            <a:endParaRPr lang="en-US" sz="850" dirty="0"/>
          </a:p>
        </p:txBody>
      </p:sp>
      <p:sp>
        <p:nvSpPr>
          <p:cNvPr id="3" name="Text 1"/>
          <p:cNvSpPr/>
          <p:nvPr/>
        </p:nvSpPr>
        <p:spPr>
          <a:xfrm>
            <a:off x="480059" y="750951"/>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What we currently rely on</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289504860"/>
              </p:ext>
            </p:extLst>
          </p:nvPr>
        </p:nvGraphicFramePr>
        <p:xfrm>
          <a:off x="480059" y="1440180"/>
          <a:ext cx="8181594" cy="1901952"/>
        </p:xfrm>
        <a:graphic>
          <a:graphicData uri="http://schemas.openxmlformats.org/drawingml/2006/table">
            <a:tbl>
              <a:tblPr/>
              <a:tblGrid>
                <a:gridCol w="3703320">
                  <a:extLst>
                    <a:ext uri="{9D8B030D-6E8A-4147-A177-3AD203B41FA5}">
                      <a16:colId xmlns:a16="http://schemas.microsoft.com/office/drawing/2014/main" val="20000"/>
                    </a:ext>
                  </a:extLst>
                </a:gridCol>
                <a:gridCol w="4478274">
                  <a:extLst>
                    <a:ext uri="{9D8B030D-6E8A-4147-A177-3AD203B41FA5}">
                      <a16:colId xmlns:a16="http://schemas.microsoft.com/office/drawing/2014/main" val="20001"/>
                    </a:ext>
                  </a:extLst>
                </a:gridCol>
              </a:tblGrid>
              <a:tr h="24130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Today</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A4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The cost</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A4A"/>
                    </a:solidFill>
                  </a:tcPr>
                </a:tc>
                <a:extLst>
                  <a:ext uri="{0D108BD9-81ED-4DB2-BD59-A6C34878D82A}">
                    <a16:rowId xmlns:a16="http://schemas.microsoft.com/office/drawing/2014/main" val="10000"/>
                  </a:ext>
                </a:extLst>
              </a:tr>
              <a:tr h="241300">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Attendance counted, not recorded by name</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D03B3B"/>
                          </a:solidFill>
                          <a:latin typeface="Calibri" pitchFamily="34" charset="0"/>
                          <a:ea typeface="Calibri" pitchFamily="34" charset="-122"/>
                          <a:cs typeface="Calibri" pitchFamily="34" charset="-120"/>
                        </a:rPr>
                        <a:t>We know how many came, never who stopped coming</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41300">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Membership register in a book or spreadsheet</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Out of date, one copy, easily lost</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241300">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Follow-up depends on someone remembering</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Quiet members are missed; the same few get called twice</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41300">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Birthdays remembered informally</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Missed birthdays, no consistency</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241300">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Reports assembled by hand before meetings</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Hours of work, often for figures nobody trusts</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80059" y="593217"/>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WHAT WE GET</a:t>
            </a:r>
            <a:endParaRPr lang="en-US" sz="850" dirty="0"/>
          </a:p>
        </p:txBody>
      </p:sp>
      <p:sp>
        <p:nvSpPr>
          <p:cNvPr id="3" name="Text 1"/>
          <p:cNvSpPr/>
          <p:nvPr/>
        </p:nvSpPr>
        <p:spPr>
          <a:xfrm>
            <a:off x="480059" y="689229"/>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Seven questions the system answers</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sp>
        <p:nvSpPr>
          <p:cNvPr id="6" name="Text 3"/>
          <p:cNvSpPr/>
          <p:nvPr/>
        </p:nvSpPr>
        <p:spPr>
          <a:xfrm>
            <a:off x="651510" y="1337310"/>
            <a:ext cx="7886700" cy="3017520"/>
          </a:xfrm>
          <a:prstGeom prst="rect">
            <a:avLst/>
          </a:prstGeom>
          <a:noFill/>
          <a:ln/>
        </p:spPr>
        <p:txBody>
          <a:bodyPr wrap="square" rtlCol="0" anchor="t"/>
          <a:lstStyle/>
          <a:p>
            <a:pPr marL="342900" indent="-342900">
              <a:spcAft>
                <a:spcPts val="1300"/>
              </a:spcAft>
              <a:buSzPct val="100000"/>
              <a:buChar char="•"/>
            </a:pPr>
            <a:r>
              <a:rPr lang="en-US" sz="1500" dirty="0">
                <a:solidFill>
                  <a:srgbClr val="0F172A"/>
                </a:solidFill>
                <a:latin typeface="Calibri" pitchFamily="34" charset="0"/>
                <a:ea typeface="Calibri" pitchFamily="34" charset="-122"/>
                <a:cs typeface="Calibri" pitchFamily="34" charset="-120"/>
              </a:rPr>
              <a:t>Who are our members?</a:t>
            </a:r>
            <a:endParaRPr lang="en-US" sz="1500" dirty="0"/>
          </a:p>
          <a:p>
            <a:pPr marL="342900" indent="-342900">
              <a:spcAft>
                <a:spcPts val="1300"/>
              </a:spcAft>
              <a:buSzPct val="100000"/>
              <a:buChar char="•"/>
            </a:pPr>
            <a:r>
              <a:rPr lang="en-US" sz="1500" dirty="0">
                <a:solidFill>
                  <a:srgbClr val="0F172A"/>
                </a:solidFill>
                <a:latin typeface="Calibri" pitchFamily="34" charset="0"/>
                <a:ea typeface="Calibri" pitchFamily="34" charset="-122"/>
                <a:cs typeface="Calibri" pitchFamily="34" charset="-120"/>
              </a:rPr>
              <a:t>Who attended church?</a:t>
            </a:r>
            <a:endParaRPr lang="en-US" sz="1500" dirty="0"/>
          </a:p>
          <a:p>
            <a:pPr marL="342900" indent="-342900">
              <a:spcAft>
                <a:spcPts val="1300"/>
              </a:spcAft>
              <a:buSzPct val="100000"/>
              <a:buChar char="•"/>
            </a:pPr>
            <a:r>
              <a:rPr lang="en-US" sz="1500" b="1" dirty="0">
                <a:solidFill>
                  <a:srgbClr val="B8892B"/>
                </a:solidFill>
                <a:latin typeface="Calibri" pitchFamily="34" charset="0"/>
                <a:ea typeface="Calibri" pitchFamily="34" charset="-122"/>
                <a:cs typeface="Calibri" pitchFamily="34" charset="-120"/>
              </a:rPr>
              <a:t>Who has been absent?</a:t>
            </a:r>
            <a:endParaRPr lang="en-US" sz="1500" dirty="0"/>
          </a:p>
          <a:p>
            <a:pPr marL="342900" indent="-342900">
              <a:spcAft>
                <a:spcPts val="1300"/>
              </a:spcAft>
              <a:buSzPct val="100000"/>
              <a:buChar char="•"/>
            </a:pPr>
            <a:r>
              <a:rPr lang="en-US" sz="1500" b="1" dirty="0">
                <a:solidFill>
                  <a:srgbClr val="B8892B"/>
                </a:solidFill>
                <a:latin typeface="Calibri" pitchFamily="34" charset="0"/>
                <a:ea typeface="Calibri" pitchFamily="34" charset="-122"/>
                <a:cs typeface="Calibri" pitchFamily="34" charset="-120"/>
              </a:rPr>
              <a:t>Who needs follow-up?</a:t>
            </a:r>
            <a:endParaRPr lang="en-US" sz="1500" dirty="0"/>
          </a:p>
          <a:p>
            <a:pPr marL="342900" indent="-342900">
              <a:spcAft>
                <a:spcPts val="1300"/>
              </a:spcAft>
              <a:buSzPct val="100000"/>
              <a:buChar char="•"/>
            </a:pPr>
            <a:r>
              <a:rPr lang="en-US" sz="1500" dirty="0">
                <a:solidFill>
                  <a:srgbClr val="0F172A"/>
                </a:solidFill>
                <a:latin typeface="Calibri" pitchFamily="34" charset="0"/>
                <a:ea typeface="Calibri" pitchFamily="34" charset="-122"/>
                <a:cs typeface="Calibri" pitchFamily="34" charset="-120"/>
              </a:rPr>
              <a:t>Whose birthday is coming up?</a:t>
            </a:r>
            <a:endParaRPr lang="en-US" sz="1500" dirty="0"/>
          </a:p>
          <a:p>
            <a:pPr marL="342900" indent="-342900">
              <a:spcAft>
                <a:spcPts val="1300"/>
              </a:spcAft>
              <a:buSzPct val="100000"/>
              <a:buChar char="•"/>
            </a:pPr>
            <a:r>
              <a:rPr lang="en-US" sz="1500" dirty="0">
                <a:solidFill>
                  <a:srgbClr val="0F172A"/>
                </a:solidFill>
                <a:latin typeface="Calibri" pitchFamily="34" charset="0"/>
                <a:ea typeface="Calibri" pitchFamily="34" charset="-122"/>
                <a:cs typeface="Calibri" pitchFamily="34" charset="-120"/>
              </a:rPr>
              <a:t>How is our membership growing?</a:t>
            </a:r>
            <a:endParaRPr lang="en-US" sz="1500" dirty="0"/>
          </a:p>
          <a:p>
            <a:pPr marL="342900" indent="-342900">
              <a:spcAft>
                <a:spcPts val="1300"/>
              </a:spcAft>
              <a:buSzPct val="100000"/>
              <a:buChar char="•"/>
            </a:pPr>
            <a:r>
              <a:rPr lang="en-US" sz="1500" dirty="0">
                <a:solidFill>
                  <a:srgbClr val="0F172A"/>
                </a:solidFill>
                <a:latin typeface="Calibri" pitchFamily="34" charset="0"/>
                <a:ea typeface="Calibri" pitchFamily="34" charset="-122"/>
                <a:cs typeface="Calibri" pitchFamily="34" charset="-120"/>
              </a:rPr>
              <a:t>Which departments and groups are active?</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528067" y="754379"/>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IN PLAIN TERMS</a:t>
            </a:r>
            <a:endParaRPr lang="en-US" sz="850" dirty="0"/>
          </a:p>
        </p:txBody>
      </p:sp>
      <p:sp>
        <p:nvSpPr>
          <p:cNvPr id="3" name="Text 1"/>
          <p:cNvSpPr/>
          <p:nvPr/>
        </p:nvSpPr>
        <p:spPr>
          <a:xfrm>
            <a:off x="528067" y="867537"/>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What it is</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sp>
        <p:nvSpPr>
          <p:cNvPr id="6" name="Shape 3"/>
          <p:cNvSpPr/>
          <p:nvPr/>
        </p:nvSpPr>
        <p:spPr>
          <a:xfrm>
            <a:off x="480059" y="1577339"/>
            <a:ext cx="2571750" cy="1714500"/>
          </a:xfrm>
          <a:prstGeom prst="rect">
            <a:avLst/>
          </a:prstGeom>
          <a:solidFill>
            <a:srgbClr val="FFFFFF"/>
          </a:solidFill>
          <a:ln w="12700">
            <a:solidFill>
              <a:srgbClr val="E2E8F0"/>
            </a:solidFill>
            <a:prstDash val="solid"/>
          </a:ln>
        </p:spPr>
        <p:txBody>
          <a:bodyPr/>
          <a:lstStyle/>
          <a:p>
            <a:endParaRPr lang="en-US"/>
          </a:p>
        </p:txBody>
      </p:sp>
      <p:sp>
        <p:nvSpPr>
          <p:cNvPr id="7" name="Shape 4"/>
          <p:cNvSpPr/>
          <p:nvPr/>
        </p:nvSpPr>
        <p:spPr>
          <a:xfrm>
            <a:off x="480059" y="1577339"/>
            <a:ext cx="2571750" cy="54864"/>
          </a:xfrm>
          <a:prstGeom prst="rect">
            <a:avLst/>
          </a:prstGeom>
          <a:solidFill>
            <a:srgbClr val="B8892B"/>
          </a:solidFill>
          <a:ln w="12700">
            <a:solidFill>
              <a:srgbClr val="B8892B"/>
            </a:solidFill>
            <a:prstDash val="solid"/>
          </a:ln>
        </p:spPr>
        <p:txBody>
          <a:bodyPr/>
          <a:lstStyle/>
          <a:p>
            <a:endParaRPr lang="en-US"/>
          </a:p>
        </p:txBody>
      </p:sp>
      <p:sp>
        <p:nvSpPr>
          <p:cNvPr id="8" name="Text 5"/>
          <p:cNvSpPr/>
          <p:nvPr/>
        </p:nvSpPr>
        <p:spPr>
          <a:xfrm>
            <a:off x="685800" y="1851660"/>
            <a:ext cx="2160270" cy="548640"/>
          </a:xfrm>
          <a:prstGeom prst="rect">
            <a:avLst/>
          </a:prstGeom>
          <a:noFill/>
          <a:ln/>
        </p:spPr>
        <p:txBody>
          <a:bodyPr wrap="square" rtlCol="0" anchor="ctr"/>
          <a:lstStyle/>
          <a:p>
            <a:pPr marL="0" indent="0">
              <a:buNone/>
            </a:pPr>
            <a:r>
              <a:rPr lang="en-US" sz="1350" b="1" dirty="0">
                <a:solidFill>
                  <a:srgbClr val="0F2A4A"/>
                </a:solidFill>
                <a:latin typeface="Calibri" pitchFamily="34" charset="0"/>
                <a:ea typeface="Calibri" pitchFamily="34" charset="-122"/>
                <a:cs typeface="Calibri" pitchFamily="34" charset="-120"/>
              </a:rPr>
              <a:t>A secure web application</a:t>
            </a:r>
            <a:endParaRPr lang="en-US" sz="1350" dirty="0"/>
          </a:p>
        </p:txBody>
      </p:sp>
      <p:sp>
        <p:nvSpPr>
          <p:cNvPr id="9" name="Text 6"/>
          <p:cNvSpPr/>
          <p:nvPr/>
        </p:nvSpPr>
        <p:spPr>
          <a:xfrm>
            <a:off x="685800" y="2400300"/>
            <a:ext cx="2160270" cy="75438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Reached through a browser, protected by a personal sign-in</a:t>
            </a:r>
            <a:endParaRPr lang="en-US" sz="1000" dirty="0"/>
          </a:p>
        </p:txBody>
      </p:sp>
      <p:sp>
        <p:nvSpPr>
          <p:cNvPr id="10" name="Shape 7"/>
          <p:cNvSpPr/>
          <p:nvPr/>
        </p:nvSpPr>
        <p:spPr>
          <a:xfrm>
            <a:off x="3236976" y="1577339"/>
            <a:ext cx="2571750" cy="1714500"/>
          </a:xfrm>
          <a:prstGeom prst="rect">
            <a:avLst/>
          </a:prstGeom>
          <a:solidFill>
            <a:srgbClr val="FFFFFF"/>
          </a:solidFill>
          <a:ln w="12700">
            <a:solidFill>
              <a:srgbClr val="E2E8F0"/>
            </a:solidFill>
            <a:prstDash val="solid"/>
          </a:ln>
        </p:spPr>
        <p:txBody>
          <a:bodyPr/>
          <a:lstStyle/>
          <a:p>
            <a:endParaRPr lang="en-US"/>
          </a:p>
        </p:txBody>
      </p:sp>
      <p:sp>
        <p:nvSpPr>
          <p:cNvPr id="11" name="Shape 8"/>
          <p:cNvSpPr/>
          <p:nvPr/>
        </p:nvSpPr>
        <p:spPr>
          <a:xfrm>
            <a:off x="3236976" y="1577339"/>
            <a:ext cx="2571750" cy="54864"/>
          </a:xfrm>
          <a:prstGeom prst="rect">
            <a:avLst/>
          </a:prstGeom>
          <a:solidFill>
            <a:srgbClr val="B8892B"/>
          </a:solidFill>
          <a:ln w="12700">
            <a:solidFill>
              <a:srgbClr val="B8892B"/>
            </a:solidFill>
            <a:prstDash val="solid"/>
          </a:ln>
        </p:spPr>
        <p:txBody>
          <a:bodyPr/>
          <a:lstStyle/>
          <a:p>
            <a:endParaRPr lang="en-US"/>
          </a:p>
        </p:txBody>
      </p:sp>
      <p:sp>
        <p:nvSpPr>
          <p:cNvPr id="12" name="Text 9"/>
          <p:cNvSpPr/>
          <p:nvPr/>
        </p:nvSpPr>
        <p:spPr>
          <a:xfrm>
            <a:off x="3442716" y="1851660"/>
            <a:ext cx="2160270" cy="548640"/>
          </a:xfrm>
          <a:prstGeom prst="rect">
            <a:avLst/>
          </a:prstGeom>
          <a:noFill/>
          <a:ln/>
        </p:spPr>
        <p:txBody>
          <a:bodyPr wrap="square" rtlCol="0" anchor="ctr"/>
          <a:lstStyle/>
          <a:p>
            <a:pPr marL="0" indent="0">
              <a:buNone/>
            </a:pPr>
            <a:r>
              <a:rPr lang="en-US" sz="1350" b="1" dirty="0">
                <a:solidFill>
                  <a:srgbClr val="0F2A4A"/>
                </a:solidFill>
                <a:latin typeface="Calibri" pitchFamily="34" charset="0"/>
                <a:ea typeface="Calibri" pitchFamily="34" charset="-122"/>
                <a:cs typeface="Calibri" pitchFamily="34" charset="-120"/>
              </a:rPr>
              <a:t>Computer, tablet or phone</a:t>
            </a:r>
            <a:endParaRPr lang="en-US" sz="1350" dirty="0"/>
          </a:p>
        </p:txBody>
      </p:sp>
      <p:sp>
        <p:nvSpPr>
          <p:cNvPr id="13" name="Text 10"/>
          <p:cNvSpPr/>
          <p:nvPr/>
        </p:nvSpPr>
        <p:spPr>
          <a:xfrm>
            <a:off x="3442716" y="2400300"/>
            <a:ext cx="2160270" cy="75438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The same information wherever you are</a:t>
            </a:r>
            <a:endParaRPr lang="en-US" sz="1000" dirty="0"/>
          </a:p>
        </p:txBody>
      </p:sp>
      <p:sp>
        <p:nvSpPr>
          <p:cNvPr id="14" name="Shape 11"/>
          <p:cNvSpPr/>
          <p:nvPr/>
        </p:nvSpPr>
        <p:spPr>
          <a:xfrm>
            <a:off x="5993892" y="1577339"/>
            <a:ext cx="2571750" cy="1714500"/>
          </a:xfrm>
          <a:prstGeom prst="rect">
            <a:avLst/>
          </a:prstGeom>
          <a:solidFill>
            <a:srgbClr val="FFFFFF"/>
          </a:solidFill>
          <a:ln w="12700">
            <a:solidFill>
              <a:srgbClr val="E2E8F0"/>
            </a:solidFill>
            <a:prstDash val="solid"/>
          </a:ln>
        </p:spPr>
        <p:txBody>
          <a:bodyPr/>
          <a:lstStyle/>
          <a:p>
            <a:endParaRPr lang="en-US"/>
          </a:p>
        </p:txBody>
      </p:sp>
      <p:sp>
        <p:nvSpPr>
          <p:cNvPr id="15" name="Shape 12"/>
          <p:cNvSpPr/>
          <p:nvPr/>
        </p:nvSpPr>
        <p:spPr>
          <a:xfrm>
            <a:off x="5993892" y="1577339"/>
            <a:ext cx="2571750" cy="54864"/>
          </a:xfrm>
          <a:prstGeom prst="rect">
            <a:avLst/>
          </a:prstGeom>
          <a:solidFill>
            <a:srgbClr val="B8892B"/>
          </a:solidFill>
          <a:ln w="12700">
            <a:solidFill>
              <a:srgbClr val="B8892B"/>
            </a:solidFill>
            <a:prstDash val="solid"/>
          </a:ln>
        </p:spPr>
        <p:txBody>
          <a:bodyPr/>
          <a:lstStyle/>
          <a:p>
            <a:endParaRPr lang="en-US"/>
          </a:p>
        </p:txBody>
      </p:sp>
      <p:sp>
        <p:nvSpPr>
          <p:cNvPr id="16" name="Text 13"/>
          <p:cNvSpPr/>
          <p:nvPr/>
        </p:nvSpPr>
        <p:spPr>
          <a:xfrm>
            <a:off x="6199632" y="1851660"/>
            <a:ext cx="2160270" cy="548640"/>
          </a:xfrm>
          <a:prstGeom prst="rect">
            <a:avLst/>
          </a:prstGeom>
          <a:noFill/>
          <a:ln/>
        </p:spPr>
        <p:txBody>
          <a:bodyPr wrap="square" rtlCol="0" anchor="ctr"/>
          <a:lstStyle/>
          <a:p>
            <a:pPr marL="0" indent="0">
              <a:buNone/>
            </a:pPr>
            <a:r>
              <a:rPr lang="en-US" sz="1350" b="1" dirty="0">
                <a:solidFill>
                  <a:srgbClr val="0F2A4A"/>
                </a:solidFill>
                <a:latin typeface="Calibri" pitchFamily="34" charset="0"/>
                <a:ea typeface="Calibri" pitchFamily="34" charset="-122"/>
                <a:cs typeface="Calibri" pitchFamily="34" charset="-120"/>
              </a:rPr>
              <a:t>Nothing to install</a:t>
            </a:r>
            <a:endParaRPr lang="en-US" sz="1350" dirty="0"/>
          </a:p>
        </p:txBody>
      </p:sp>
      <p:sp>
        <p:nvSpPr>
          <p:cNvPr id="17" name="Text 14"/>
          <p:cNvSpPr/>
          <p:nvPr/>
        </p:nvSpPr>
        <p:spPr>
          <a:xfrm>
            <a:off x="6199632" y="2400300"/>
            <a:ext cx="2160270" cy="754380"/>
          </a:xfrm>
          <a:prstGeom prst="rect">
            <a:avLst/>
          </a:prstGeom>
          <a:noFill/>
          <a:ln/>
        </p:spPr>
        <p:txBody>
          <a:bodyPr wrap="square" rtlCol="0" anchor="ctr"/>
          <a:lstStyle/>
          <a:p>
            <a:pPr marL="0" indent="0">
              <a:buNone/>
            </a:pPr>
            <a:r>
              <a:rPr lang="en-US" sz="1000" dirty="0">
                <a:solidFill>
                  <a:srgbClr val="64748B"/>
                </a:solidFill>
                <a:latin typeface="Calibri" pitchFamily="34" charset="0"/>
                <a:ea typeface="Calibri" pitchFamily="34" charset="-122"/>
                <a:cs typeface="Calibri" pitchFamily="34" charset="-120"/>
              </a:rPr>
              <a:t>No app store, no software on anyone’s machine</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80059" y="554355"/>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THE DASHBOARD</a:t>
            </a:r>
            <a:endParaRPr lang="en-US" sz="850" dirty="0"/>
          </a:p>
        </p:txBody>
      </p:sp>
      <p:sp>
        <p:nvSpPr>
          <p:cNvPr id="3" name="Text 1"/>
          <p:cNvSpPr/>
          <p:nvPr/>
        </p:nvSpPr>
        <p:spPr>
          <a:xfrm>
            <a:off x="480059" y="658368"/>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Everything leadership needs, on one screen</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sp>
        <p:nvSpPr>
          <p:cNvPr id="6" name="Shape 3"/>
          <p:cNvSpPr/>
          <p:nvPr/>
        </p:nvSpPr>
        <p:spPr>
          <a:xfrm>
            <a:off x="480059" y="1337310"/>
            <a:ext cx="5554980" cy="3051810"/>
          </a:xfrm>
          <a:prstGeom prst="rect">
            <a:avLst/>
          </a:prstGeom>
          <a:solidFill>
            <a:srgbClr val="FFFFFF"/>
          </a:solidFill>
          <a:ln w="12700">
            <a:solidFill>
              <a:srgbClr val="E2E8F0"/>
            </a:solidFill>
            <a:prstDash val="solid"/>
          </a:ln>
          <a:effectLst>
            <a:outerShdw blurRad="76200" dist="25400" dir="5400000" algn="bl" rotWithShape="0">
              <a:srgbClr val="0F172A">
                <a:alpha val="18000"/>
              </a:srgbClr>
            </a:outerShdw>
          </a:effectLst>
        </p:spPr>
        <p:txBody>
          <a:bodyPr/>
          <a:lstStyle/>
          <a:p>
            <a:endParaRPr lang="en-US"/>
          </a:p>
        </p:txBody>
      </p:sp>
      <p:pic>
        <p:nvPicPr>
          <p:cNvPr id="7" name="Image 1" descr="C:\Users\ANP\Desktop\churchconnect\tools\deck\screenshots\dashboard.png"/>
          <p:cNvPicPr>
            <a:picLocks noChangeAspect="1"/>
          </p:cNvPicPr>
          <p:nvPr/>
        </p:nvPicPr>
        <p:blipFill>
          <a:blip r:embed="rId4"/>
          <a:srcRect/>
          <a:stretch/>
        </p:blipFill>
        <p:spPr>
          <a:xfrm>
            <a:off x="514350" y="1371600"/>
            <a:ext cx="5486400" cy="2983229"/>
          </a:xfrm>
          <a:prstGeom prst="rect">
            <a:avLst/>
          </a:prstGeom>
        </p:spPr>
      </p:pic>
      <p:sp>
        <p:nvSpPr>
          <p:cNvPr id="8" name="Shape 4"/>
          <p:cNvSpPr/>
          <p:nvPr/>
        </p:nvSpPr>
        <p:spPr>
          <a:xfrm>
            <a:off x="6206490" y="1337310"/>
            <a:ext cx="48006" cy="651510"/>
          </a:xfrm>
          <a:prstGeom prst="rect">
            <a:avLst/>
          </a:prstGeom>
          <a:solidFill>
            <a:srgbClr val="0F2A4A"/>
          </a:solidFill>
          <a:ln w="12700">
            <a:solidFill>
              <a:srgbClr val="0F2A4A"/>
            </a:solidFill>
            <a:prstDash val="solid"/>
          </a:ln>
        </p:spPr>
        <p:txBody>
          <a:bodyPr/>
          <a:lstStyle/>
          <a:p>
            <a:endParaRPr lang="en-US"/>
          </a:p>
        </p:txBody>
      </p:sp>
      <p:sp>
        <p:nvSpPr>
          <p:cNvPr id="9" name="Text 5"/>
          <p:cNvSpPr/>
          <p:nvPr/>
        </p:nvSpPr>
        <p:spPr>
          <a:xfrm>
            <a:off x="6377940" y="1337310"/>
            <a:ext cx="2263140" cy="219456"/>
          </a:xfrm>
          <a:prstGeom prst="rect">
            <a:avLst/>
          </a:prstGeom>
          <a:noFill/>
          <a:ln/>
        </p:spPr>
        <p:txBody>
          <a:bodyPr wrap="square" rtlCol="0" anchor="ctr"/>
          <a:lstStyle/>
          <a:p>
            <a:pPr marL="0" indent="0">
              <a:buNone/>
            </a:pPr>
            <a:r>
              <a:rPr lang="en-US" sz="1150" b="1" dirty="0">
                <a:solidFill>
                  <a:srgbClr val="0F2A4A"/>
                </a:solidFill>
                <a:latin typeface="Calibri" pitchFamily="34" charset="0"/>
                <a:ea typeface="Calibri" pitchFamily="34" charset="-122"/>
                <a:cs typeface="Calibri" pitchFamily="34" charset="-120"/>
              </a:rPr>
              <a:t>Membership</a:t>
            </a:r>
            <a:endParaRPr lang="en-US" sz="1150" dirty="0"/>
          </a:p>
        </p:txBody>
      </p:sp>
      <p:sp>
        <p:nvSpPr>
          <p:cNvPr id="10" name="Text 6"/>
          <p:cNvSpPr/>
          <p:nvPr/>
        </p:nvSpPr>
        <p:spPr>
          <a:xfrm>
            <a:off x="6377940" y="1563624"/>
            <a:ext cx="2263140" cy="4251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Total, active, inactive, new this month, male, female</a:t>
            </a:r>
            <a:endParaRPr lang="en-US" sz="850" dirty="0"/>
          </a:p>
        </p:txBody>
      </p:sp>
      <p:sp>
        <p:nvSpPr>
          <p:cNvPr id="11" name="Shape 7"/>
          <p:cNvSpPr/>
          <p:nvPr/>
        </p:nvSpPr>
        <p:spPr>
          <a:xfrm>
            <a:off x="6206490" y="2112264"/>
            <a:ext cx="48006" cy="651510"/>
          </a:xfrm>
          <a:prstGeom prst="rect">
            <a:avLst/>
          </a:prstGeom>
          <a:solidFill>
            <a:srgbClr val="0F2A4A"/>
          </a:solidFill>
          <a:ln w="12700">
            <a:solidFill>
              <a:srgbClr val="0F2A4A"/>
            </a:solidFill>
            <a:prstDash val="solid"/>
          </a:ln>
        </p:spPr>
        <p:txBody>
          <a:bodyPr/>
          <a:lstStyle/>
          <a:p>
            <a:endParaRPr lang="en-US"/>
          </a:p>
        </p:txBody>
      </p:sp>
      <p:sp>
        <p:nvSpPr>
          <p:cNvPr id="12" name="Text 8"/>
          <p:cNvSpPr/>
          <p:nvPr/>
        </p:nvSpPr>
        <p:spPr>
          <a:xfrm>
            <a:off x="6377940" y="2112264"/>
            <a:ext cx="2263140" cy="219456"/>
          </a:xfrm>
          <a:prstGeom prst="rect">
            <a:avLst/>
          </a:prstGeom>
          <a:noFill/>
          <a:ln/>
        </p:spPr>
        <p:txBody>
          <a:bodyPr wrap="square" rtlCol="0" anchor="ctr"/>
          <a:lstStyle/>
          <a:p>
            <a:pPr marL="0" indent="0">
              <a:buNone/>
            </a:pPr>
            <a:r>
              <a:rPr lang="en-US" sz="1150" b="1" dirty="0">
                <a:solidFill>
                  <a:srgbClr val="0F2A4A"/>
                </a:solidFill>
                <a:latin typeface="Calibri" pitchFamily="34" charset="0"/>
                <a:ea typeface="Calibri" pitchFamily="34" charset="-122"/>
                <a:cs typeface="Calibri" pitchFamily="34" charset="-120"/>
              </a:rPr>
              <a:t>Attendance</a:t>
            </a:r>
            <a:endParaRPr lang="en-US" sz="1150" dirty="0"/>
          </a:p>
        </p:txBody>
      </p:sp>
      <p:sp>
        <p:nvSpPr>
          <p:cNvPr id="13" name="Text 9"/>
          <p:cNvSpPr/>
          <p:nvPr/>
        </p:nvSpPr>
        <p:spPr>
          <a:xfrm>
            <a:off x="6377940" y="2338578"/>
            <a:ext cx="2263140" cy="4251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Today, this week, this month, attendance rate</a:t>
            </a:r>
            <a:endParaRPr lang="en-US" sz="850" dirty="0"/>
          </a:p>
        </p:txBody>
      </p:sp>
      <p:sp>
        <p:nvSpPr>
          <p:cNvPr id="14" name="Shape 10"/>
          <p:cNvSpPr/>
          <p:nvPr/>
        </p:nvSpPr>
        <p:spPr>
          <a:xfrm>
            <a:off x="6206490" y="2887218"/>
            <a:ext cx="48006" cy="651510"/>
          </a:xfrm>
          <a:prstGeom prst="rect">
            <a:avLst/>
          </a:prstGeom>
          <a:solidFill>
            <a:srgbClr val="D03B3B"/>
          </a:solidFill>
          <a:ln w="12700">
            <a:solidFill>
              <a:srgbClr val="D03B3B"/>
            </a:solidFill>
            <a:prstDash val="solid"/>
          </a:ln>
        </p:spPr>
        <p:txBody>
          <a:bodyPr/>
          <a:lstStyle/>
          <a:p>
            <a:endParaRPr lang="en-US"/>
          </a:p>
        </p:txBody>
      </p:sp>
      <p:sp>
        <p:nvSpPr>
          <p:cNvPr id="15" name="Text 11"/>
          <p:cNvSpPr/>
          <p:nvPr/>
        </p:nvSpPr>
        <p:spPr>
          <a:xfrm>
            <a:off x="6377940" y="2887218"/>
            <a:ext cx="2263140" cy="219456"/>
          </a:xfrm>
          <a:prstGeom prst="rect">
            <a:avLst/>
          </a:prstGeom>
          <a:noFill/>
          <a:ln/>
        </p:spPr>
        <p:txBody>
          <a:bodyPr wrap="square" rtlCol="0" anchor="ctr"/>
          <a:lstStyle/>
          <a:p>
            <a:pPr marL="0" indent="0">
              <a:buNone/>
            </a:pPr>
            <a:r>
              <a:rPr lang="en-US" sz="1150" b="1" dirty="0">
                <a:solidFill>
                  <a:srgbClr val="0F2A4A"/>
                </a:solidFill>
                <a:latin typeface="Calibri" pitchFamily="34" charset="0"/>
                <a:ea typeface="Calibri" pitchFamily="34" charset="-122"/>
                <a:cs typeface="Calibri" pitchFamily="34" charset="-120"/>
              </a:rPr>
              <a:t>Follow-up</a:t>
            </a:r>
            <a:endParaRPr lang="en-US" sz="1150" dirty="0"/>
          </a:p>
        </p:txBody>
      </p:sp>
      <p:sp>
        <p:nvSpPr>
          <p:cNvPr id="16" name="Text 12"/>
          <p:cNvSpPr/>
          <p:nvPr/>
        </p:nvSpPr>
        <p:spPr>
          <a:xfrm>
            <a:off x="6377940" y="3113532"/>
            <a:ext cx="2263140" cy="4251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Absent 2 / 3 weeks / 1 month, pending, overdue</a:t>
            </a:r>
            <a:endParaRPr lang="en-US" sz="850" dirty="0"/>
          </a:p>
        </p:txBody>
      </p:sp>
      <p:sp>
        <p:nvSpPr>
          <p:cNvPr id="17" name="Shape 13"/>
          <p:cNvSpPr/>
          <p:nvPr/>
        </p:nvSpPr>
        <p:spPr>
          <a:xfrm>
            <a:off x="6206490" y="3662172"/>
            <a:ext cx="48006" cy="651510"/>
          </a:xfrm>
          <a:prstGeom prst="rect">
            <a:avLst/>
          </a:prstGeom>
          <a:solidFill>
            <a:srgbClr val="B8892B"/>
          </a:solidFill>
          <a:ln w="12700">
            <a:solidFill>
              <a:srgbClr val="B8892B"/>
            </a:solidFill>
            <a:prstDash val="solid"/>
          </a:ln>
        </p:spPr>
        <p:txBody>
          <a:bodyPr/>
          <a:lstStyle/>
          <a:p>
            <a:endParaRPr lang="en-US"/>
          </a:p>
        </p:txBody>
      </p:sp>
      <p:sp>
        <p:nvSpPr>
          <p:cNvPr id="18" name="Text 14"/>
          <p:cNvSpPr/>
          <p:nvPr/>
        </p:nvSpPr>
        <p:spPr>
          <a:xfrm>
            <a:off x="6377940" y="3662172"/>
            <a:ext cx="2263140" cy="219456"/>
          </a:xfrm>
          <a:prstGeom prst="rect">
            <a:avLst/>
          </a:prstGeom>
          <a:noFill/>
          <a:ln/>
        </p:spPr>
        <p:txBody>
          <a:bodyPr wrap="square" rtlCol="0" anchor="ctr"/>
          <a:lstStyle/>
          <a:p>
            <a:pPr marL="0" indent="0">
              <a:buNone/>
            </a:pPr>
            <a:r>
              <a:rPr lang="en-US" sz="1150" b="1" dirty="0">
                <a:solidFill>
                  <a:srgbClr val="0F2A4A"/>
                </a:solidFill>
                <a:latin typeface="Calibri" pitchFamily="34" charset="0"/>
                <a:ea typeface="Calibri" pitchFamily="34" charset="-122"/>
                <a:cs typeface="Calibri" pitchFamily="34" charset="-120"/>
              </a:rPr>
              <a:t>Birthdays</a:t>
            </a:r>
            <a:endParaRPr lang="en-US" sz="1150" dirty="0"/>
          </a:p>
        </p:txBody>
      </p:sp>
      <p:sp>
        <p:nvSpPr>
          <p:cNvPr id="19" name="Text 15"/>
          <p:cNvSpPr/>
          <p:nvPr/>
        </p:nvSpPr>
        <p:spPr>
          <a:xfrm>
            <a:off x="6377940" y="3888486"/>
            <a:ext cx="2263140" cy="425196"/>
          </a:xfrm>
          <a:prstGeom prst="rect">
            <a:avLst/>
          </a:prstGeom>
          <a:noFill/>
          <a:ln/>
        </p:spPr>
        <p:txBody>
          <a:bodyPr wrap="square" rtlCol="0" anchor="ctr"/>
          <a:lstStyle/>
          <a:p>
            <a:pPr marL="0" indent="0">
              <a:buNone/>
            </a:pPr>
            <a:r>
              <a:rPr lang="en-US" sz="850" dirty="0">
                <a:solidFill>
                  <a:srgbClr val="64748B"/>
                </a:solidFill>
                <a:latin typeface="Calibri" pitchFamily="34" charset="0"/>
                <a:ea typeface="Calibri" pitchFamily="34" charset="-122"/>
                <a:cs typeface="Calibri" pitchFamily="34" charset="-120"/>
              </a:rPr>
              <a:t>Today, this week, this month</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80059" y="558927"/>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MEMBER MANAGEMENT</a:t>
            </a:r>
            <a:endParaRPr lang="en-US" sz="850" dirty="0"/>
          </a:p>
        </p:txBody>
      </p:sp>
      <p:sp>
        <p:nvSpPr>
          <p:cNvPr id="3" name="Text 1"/>
          <p:cNvSpPr/>
          <p:nvPr/>
        </p:nvSpPr>
        <p:spPr>
          <a:xfrm>
            <a:off x="480059" y="654939"/>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One complete record per member</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sp>
        <p:nvSpPr>
          <p:cNvPr id="6" name="Shape 3"/>
          <p:cNvSpPr/>
          <p:nvPr/>
        </p:nvSpPr>
        <p:spPr>
          <a:xfrm>
            <a:off x="480059" y="1337310"/>
            <a:ext cx="5006340" cy="3051810"/>
          </a:xfrm>
          <a:prstGeom prst="rect">
            <a:avLst/>
          </a:prstGeom>
          <a:solidFill>
            <a:srgbClr val="FFFFFF"/>
          </a:solidFill>
          <a:ln w="12700">
            <a:solidFill>
              <a:srgbClr val="E2E8F0"/>
            </a:solidFill>
            <a:prstDash val="solid"/>
          </a:ln>
          <a:effectLst>
            <a:outerShdw blurRad="76200" dist="25400" dir="5400000" algn="bl" rotWithShape="0">
              <a:srgbClr val="0F172A">
                <a:alpha val="18000"/>
              </a:srgbClr>
            </a:outerShdw>
          </a:effectLst>
        </p:spPr>
        <p:txBody>
          <a:bodyPr/>
          <a:lstStyle/>
          <a:p>
            <a:endParaRPr lang="en-US"/>
          </a:p>
        </p:txBody>
      </p:sp>
      <p:pic>
        <p:nvPicPr>
          <p:cNvPr id="7" name="Image 1" descr="C:\Users\ANP\Desktop\churchconnect\tools\deck\screenshots\member-profile.png"/>
          <p:cNvPicPr>
            <a:picLocks noChangeAspect="1"/>
          </p:cNvPicPr>
          <p:nvPr/>
        </p:nvPicPr>
        <p:blipFill>
          <a:blip r:embed="rId4"/>
          <a:srcRect/>
          <a:stretch/>
        </p:blipFill>
        <p:spPr>
          <a:xfrm>
            <a:off x="514350" y="1371600"/>
            <a:ext cx="4937759" cy="2983229"/>
          </a:xfrm>
          <a:prstGeom prst="rect">
            <a:avLst/>
          </a:prstGeom>
        </p:spPr>
      </p:pic>
      <p:sp>
        <p:nvSpPr>
          <p:cNvPr id="8" name="Text 4"/>
          <p:cNvSpPr/>
          <p:nvPr/>
        </p:nvSpPr>
        <p:spPr>
          <a:xfrm>
            <a:off x="5726430" y="1337310"/>
            <a:ext cx="2948940" cy="240029"/>
          </a:xfrm>
          <a:prstGeom prst="rect">
            <a:avLst/>
          </a:prstGeom>
          <a:noFill/>
          <a:ln/>
        </p:spPr>
        <p:txBody>
          <a:bodyPr wrap="square" rtlCol="0" anchor="ctr"/>
          <a:lstStyle/>
          <a:p>
            <a:pPr marL="0" indent="0">
              <a:buNone/>
            </a:pPr>
            <a:r>
              <a:rPr lang="en-US" sz="1150" b="1" dirty="0">
                <a:solidFill>
                  <a:srgbClr val="0F2A4A"/>
                </a:solidFill>
                <a:latin typeface="Calibri" pitchFamily="34" charset="0"/>
                <a:ea typeface="Calibri" pitchFamily="34" charset="-122"/>
                <a:cs typeface="Calibri" pitchFamily="34" charset="-120"/>
              </a:rPr>
              <a:t>Each profile holds</a:t>
            </a:r>
            <a:endParaRPr lang="en-US" sz="1150" dirty="0"/>
          </a:p>
        </p:txBody>
      </p:sp>
      <p:sp>
        <p:nvSpPr>
          <p:cNvPr id="9" name="Text 5"/>
          <p:cNvSpPr/>
          <p:nvPr/>
        </p:nvSpPr>
        <p:spPr>
          <a:xfrm>
            <a:off x="5760720" y="1645920"/>
            <a:ext cx="2948940" cy="1371600"/>
          </a:xfrm>
          <a:prstGeom prst="rect">
            <a:avLst/>
          </a:prstGeom>
          <a:noFill/>
          <a:ln/>
        </p:spPr>
        <p:txBody>
          <a:bodyPr wrap="square" rtlCol="0" anchor="t"/>
          <a:lstStyle/>
          <a:p>
            <a:pPr marL="342900" indent="-342900">
              <a:spcAft>
                <a:spcPts val="700"/>
              </a:spcAft>
              <a:buSzPct val="100000"/>
              <a:buChar char="•"/>
            </a:pPr>
            <a:r>
              <a:rPr lang="en-US" sz="900" dirty="0">
                <a:solidFill>
                  <a:srgbClr val="0F172A"/>
                </a:solidFill>
                <a:latin typeface="Calibri" pitchFamily="34" charset="0"/>
                <a:ea typeface="Calibri" pitchFamily="34" charset="-122"/>
                <a:cs typeface="Calibri" pitchFamily="34" charset="-120"/>
              </a:rPr>
              <a:t>Photograph</a:t>
            </a:r>
            <a:endParaRPr lang="en-US" sz="900" dirty="0"/>
          </a:p>
          <a:p>
            <a:pPr marL="342900" indent="-342900">
              <a:spcAft>
                <a:spcPts val="700"/>
              </a:spcAft>
              <a:buSzPct val="100000"/>
              <a:buChar char="•"/>
            </a:pPr>
            <a:r>
              <a:rPr lang="en-US" sz="900" dirty="0">
                <a:solidFill>
                  <a:srgbClr val="0F172A"/>
                </a:solidFill>
                <a:latin typeface="Calibri" pitchFamily="34" charset="0"/>
                <a:ea typeface="Calibri" pitchFamily="34" charset="-122"/>
                <a:cs typeface="Calibri" pitchFamily="34" charset="-120"/>
              </a:rPr>
              <a:t>Personal and contact details</a:t>
            </a:r>
            <a:endParaRPr lang="en-US" sz="900" dirty="0"/>
          </a:p>
          <a:p>
            <a:pPr marL="342900" indent="-342900">
              <a:spcAft>
                <a:spcPts val="700"/>
              </a:spcAft>
              <a:buSzPct val="100000"/>
              <a:buChar char="•"/>
            </a:pPr>
            <a:r>
              <a:rPr lang="en-US" sz="900" dirty="0">
                <a:solidFill>
                  <a:srgbClr val="0F172A"/>
                </a:solidFill>
                <a:latin typeface="Calibri" pitchFamily="34" charset="0"/>
                <a:ea typeface="Calibri" pitchFamily="34" charset="-122"/>
                <a:cs typeface="Calibri" pitchFamily="34" charset="-120"/>
              </a:rPr>
              <a:t>Date joined, baptism, Holy Communion</a:t>
            </a:r>
            <a:endParaRPr lang="en-US" sz="900" dirty="0"/>
          </a:p>
          <a:p>
            <a:pPr marL="342900" indent="-342900">
              <a:spcAft>
                <a:spcPts val="700"/>
              </a:spcAft>
              <a:buSzPct val="100000"/>
              <a:buChar char="•"/>
            </a:pPr>
            <a:r>
              <a:rPr lang="en-US" sz="900" dirty="0">
                <a:solidFill>
                  <a:srgbClr val="0F172A"/>
                </a:solidFill>
                <a:latin typeface="Calibri" pitchFamily="34" charset="0"/>
                <a:ea typeface="Calibri" pitchFamily="34" charset="-122"/>
                <a:cs typeface="Calibri" pitchFamily="34" charset="-120"/>
              </a:rPr>
              <a:t>Department, group and ministry</a:t>
            </a:r>
            <a:endParaRPr lang="en-US" sz="900" dirty="0"/>
          </a:p>
          <a:p>
            <a:pPr marL="342900" indent="-342900">
              <a:spcAft>
                <a:spcPts val="700"/>
              </a:spcAft>
              <a:buSzPct val="100000"/>
              <a:buChar char="•"/>
            </a:pPr>
            <a:r>
              <a:rPr lang="en-US" sz="900" dirty="0">
                <a:solidFill>
                  <a:srgbClr val="0F172A"/>
                </a:solidFill>
                <a:latin typeface="Calibri" pitchFamily="34" charset="0"/>
                <a:ea typeface="Calibri" pitchFamily="34" charset="-122"/>
                <a:cs typeface="Calibri" pitchFamily="34" charset="-120"/>
              </a:rPr>
              <a:t>Emergency contact</a:t>
            </a:r>
            <a:endParaRPr lang="en-US" sz="900" dirty="0"/>
          </a:p>
        </p:txBody>
      </p:sp>
      <p:sp>
        <p:nvSpPr>
          <p:cNvPr id="10" name="Text 6"/>
          <p:cNvSpPr/>
          <p:nvPr/>
        </p:nvSpPr>
        <p:spPr>
          <a:xfrm>
            <a:off x="5726430" y="3086100"/>
            <a:ext cx="2948940" cy="240029"/>
          </a:xfrm>
          <a:prstGeom prst="rect">
            <a:avLst/>
          </a:prstGeom>
          <a:noFill/>
          <a:ln/>
        </p:spPr>
        <p:txBody>
          <a:bodyPr wrap="square" rtlCol="0" anchor="ctr"/>
          <a:lstStyle/>
          <a:p>
            <a:pPr marL="0" indent="0">
              <a:buNone/>
            </a:pPr>
            <a:r>
              <a:rPr lang="en-US" sz="1150" b="1" dirty="0">
                <a:solidFill>
                  <a:srgbClr val="0F2A4A"/>
                </a:solidFill>
                <a:latin typeface="Calibri" pitchFamily="34" charset="0"/>
                <a:ea typeface="Calibri" pitchFamily="34" charset="-122"/>
                <a:cs typeface="Calibri" pitchFamily="34" charset="-120"/>
              </a:rPr>
              <a:t>Six tabs</a:t>
            </a:r>
            <a:endParaRPr lang="en-US" sz="1150" dirty="0"/>
          </a:p>
        </p:txBody>
      </p:sp>
      <p:sp>
        <p:nvSpPr>
          <p:cNvPr id="11" name="Text 7"/>
          <p:cNvSpPr/>
          <p:nvPr/>
        </p:nvSpPr>
        <p:spPr>
          <a:xfrm>
            <a:off x="5760720" y="3360420"/>
            <a:ext cx="2948940" cy="754380"/>
          </a:xfrm>
          <a:prstGeom prst="rect">
            <a:avLst/>
          </a:prstGeom>
          <a:noFill/>
          <a:ln/>
        </p:spPr>
        <p:txBody>
          <a:bodyPr wrap="square" rtlCol="0" anchor="ctr"/>
          <a:lstStyle/>
          <a:p>
            <a:pPr marL="0" indent="0">
              <a:lnSpc>
                <a:spcPts val="1800"/>
              </a:lnSpc>
              <a:buNone/>
            </a:pPr>
            <a:r>
              <a:rPr lang="en-US" sz="900" dirty="0">
                <a:solidFill>
                  <a:srgbClr val="64748B"/>
                </a:solidFill>
                <a:latin typeface="Calibri" pitchFamily="34" charset="0"/>
                <a:ea typeface="Calibri" pitchFamily="34" charset="-122"/>
                <a:cs typeface="Calibri" pitchFamily="34" charset="-120"/>
              </a:rPr>
              <a:t>Overview · Attendance · Follow-Up ·</a:t>
            </a:r>
            <a:endParaRPr lang="en-US" sz="900" dirty="0"/>
          </a:p>
          <a:p>
            <a:pPr marL="0" indent="0">
              <a:lnSpc>
                <a:spcPts val="1800"/>
              </a:lnSpc>
              <a:buNone/>
            </a:pPr>
            <a:r>
              <a:rPr lang="en-US" sz="900" dirty="0">
                <a:solidFill>
                  <a:srgbClr val="64748B"/>
                </a:solidFill>
                <a:latin typeface="Calibri" pitchFamily="34" charset="0"/>
                <a:ea typeface="Calibri" pitchFamily="34" charset="-122"/>
                <a:cs typeface="Calibri" pitchFamily="34" charset="-120"/>
              </a:rPr>
              <a:t>Church Activities · Documents ·</a:t>
            </a:r>
            <a:endParaRPr lang="en-US" sz="900" dirty="0"/>
          </a:p>
          <a:p>
            <a:pPr marL="0" indent="0">
              <a:lnSpc>
                <a:spcPts val="1800"/>
              </a:lnSpc>
              <a:buNone/>
            </a:pPr>
            <a:r>
              <a:rPr lang="en-US" sz="900" dirty="0">
                <a:solidFill>
                  <a:srgbClr val="64748B"/>
                </a:solidFill>
                <a:latin typeface="Calibri" pitchFamily="34" charset="0"/>
                <a:ea typeface="Calibri" pitchFamily="34" charset="-122"/>
                <a:cs typeface="Calibri" pitchFamily="34" charset="-120"/>
              </a:rPr>
              <a:t>Activity Timeline</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80059" y="582931"/>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RECORDING ATTENDANCE</a:t>
            </a:r>
            <a:endParaRPr lang="en-US" sz="850" dirty="0"/>
          </a:p>
        </p:txBody>
      </p:sp>
      <p:sp>
        <p:nvSpPr>
          <p:cNvPr id="3" name="Text 1"/>
          <p:cNvSpPr/>
          <p:nvPr/>
        </p:nvSpPr>
        <p:spPr>
          <a:xfrm>
            <a:off x="480059" y="678943"/>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Choose the service. Mark the register. Save.</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sp>
        <p:nvSpPr>
          <p:cNvPr id="6" name="Shape 3"/>
          <p:cNvSpPr/>
          <p:nvPr/>
        </p:nvSpPr>
        <p:spPr>
          <a:xfrm>
            <a:off x="480059" y="1337310"/>
            <a:ext cx="5006340" cy="3051810"/>
          </a:xfrm>
          <a:prstGeom prst="rect">
            <a:avLst/>
          </a:prstGeom>
          <a:solidFill>
            <a:srgbClr val="FFFFFF"/>
          </a:solidFill>
          <a:ln w="12700">
            <a:solidFill>
              <a:srgbClr val="E2E8F0"/>
            </a:solidFill>
            <a:prstDash val="solid"/>
          </a:ln>
          <a:effectLst>
            <a:outerShdw blurRad="76200" dist="25400" dir="5400000" algn="bl" rotWithShape="0">
              <a:srgbClr val="0F172A">
                <a:alpha val="18000"/>
              </a:srgbClr>
            </a:outerShdw>
          </a:effectLst>
        </p:spPr>
        <p:txBody>
          <a:bodyPr/>
          <a:lstStyle/>
          <a:p>
            <a:endParaRPr lang="en-US"/>
          </a:p>
        </p:txBody>
      </p:sp>
      <p:pic>
        <p:nvPicPr>
          <p:cNvPr id="7" name="Image 1" descr="C:\Users\ANP\Desktop\churchconnect\tools\deck\screenshots\register.png"/>
          <p:cNvPicPr>
            <a:picLocks noChangeAspect="1"/>
          </p:cNvPicPr>
          <p:nvPr/>
        </p:nvPicPr>
        <p:blipFill>
          <a:blip r:embed="rId4"/>
          <a:srcRect/>
          <a:stretch/>
        </p:blipFill>
        <p:spPr>
          <a:xfrm>
            <a:off x="514350" y="1371600"/>
            <a:ext cx="4937759" cy="2983229"/>
          </a:xfrm>
          <a:prstGeom prst="rect">
            <a:avLst/>
          </a:prstGeom>
        </p:spPr>
      </p:pic>
      <p:sp>
        <p:nvSpPr>
          <p:cNvPr id="8" name="Text 4"/>
          <p:cNvSpPr/>
          <p:nvPr/>
        </p:nvSpPr>
        <p:spPr>
          <a:xfrm>
            <a:off x="5726430" y="1337310"/>
            <a:ext cx="2948940" cy="240029"/>
          </a:xfrm>
          <a:prstGeom prst="rect">
            <a:avLst/>
          </a:prstGeom>
          <a:noFill/>
          <a:ln/>
        </p:spPr>
        <p:txBody>
          <a:bodyPr wrap="square" rtlCol="0" anchor="ctr"/>
          <a:lstStyle/>
          <a:p>
            <a:pPr marL="0" indent="0">
              <a:buNone/>
            </a:pPr>
            <a:r>
              <a:rPr lang="en-US" sz="1150" b="1" dirty="0">
                <a:solidFill>
                  <a:srgbClr val="0F2A4A"/>
                </a:solidFill>
                <a:latin typeface="Calibri" pitchFamily="34" charset="0"/>
                <a:ea typeface="Calibri" pitchFamily="34" charset="-122"/>
                <a:cs typeface="Calibri" pitchFamily="34" charset="-120"/>
              </a:rPr>
              <a:t>Three states</a:t>
            </a:r>
            <a:endParaRPr lang="en-US" sz="1150" dirty="0"/>
          </a:p>
        </p:txBody>
      </p:sp>
      <p:sp>
        <p:nvSpPr>
          <p:cNvPr id="9" name="Shape 5"/>
          <p:cNvSpPr/>
          <p:nvPr/>
        </p:nvSpPr>
        <p:spPr>
          <a:xfrm>
            <a:off x="5760720" y="1645920"/>
            <a:ext cx="891539" cy="288036"/>
          </a:xfrm>
          <a:prstGeom prst="roundRect">
            <a:avLst>
              <a:gd name="adj" fmla="val 14286"/>
            </a:avLst>
          </a:prstGeom>
          <a:solidFill>
            <a:srgbClr val="0CA30C"/>
          </a:solidFill>
          <a:ln w="12700">
            <a:solidFill>
              <a:srgbClr val="0CA30C"/>
            </a:solidFill>
            <a:prstDash val="solid"/>
          </a:ln>
        </p:spPr>
        <p:txBody>
          <a:bodyPr/>
          <a:lstStyle/>
          <a:p>
            <a:endParaRPr lang="en-US"/>
          </a:p>
        </p:txBody>
      </p:sp>
      <p:sp>
        <p:nvSpPr>
          <p:cNvPr id="10" name="Text 6"/>
          <p:cNvSpPr/>
          <p:nvPr/>
        </p:nvSpPr>
        <p:spPr>
          <a:xfrm>
            <a:off x="5760720" y="1645920"/>
            <a:ext cx="891539" cy="28803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Present</a:t>
            </a:r>
            <a:endParaRPr lang="en-US" sz="850" dirty="0"/>
          </a:p>
        </p:txBody>
      </p:sp>
      <p:sp>
        <p:nvSpPr>
          <p:cNvPr id="11" name="Shape 7"/>
          <p:cNvSpPr/>
          <p:nvPr/>
        </p:nvSpPr>
        <p:spPr>
          <a:xfrm>
            <a:off x="6734556" y="1645920"/>
            <a:ext cx="891539" cy="288036"/>
          </a:xfrm>
          <a:prstGeom prst="roundRect">
            <a:avLst>
              <a:gd name="adj" fmla="val 14286"/>
            </a:avLst>
          </a:prstGeom>
          <a:solidFill>
            <a:srgbClr val="D03B3B"/>
          </a:solidFill>
          <a:ln w="12700">
            <a:solidFill>
              <a:srgbClr val="D03B3B"/>
            </a:solidFill>
            <a:prstDash val="solid"/>
          </a:ln>
        </p:spPr>
        <p:txBody>
          <a:bodyPr/>
          <a:lstStyle/>
          <a:p>
            <a:endParaRPr lang="en-US"/>
          </a:p>
        </p:txBody>
      </p:sp>
      <p:sp>
        <p:nvSpPr>
          <p:cNvPr id="12" name="Text 8"/>
          <p:cNvSpPr/>
          <p:nvPr/>
        </p:nvSpPr>
        <p:spPr>
          <a:xfrm>
            <a:off x="6734556" y="1645920"/>
            <a:ext cx="891539" cy="28803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Absent</a:t>
            </a:r>
            <a:endParaRPr lang="en-US" sz="850" dirty="0"/>
          </a:p>
        </p:txBody>
      </p:sp>
      <p:sp>
        <p:nvSpPr>
          <p:cNvPr id="13" name="Shape 9"/>
          <p:cNvSpPr/>
          <p:nvPr/>
        </p:nvSpPr>
        <p:spPr>
          <a:xfrm>
            <a:off x="7708392" y="1645920"/>
            <a:ext cx="891539" cy="288036"/>
          </a:xfrm>
          <a:prstGeom prst="roundRect">
            <a:avLst>
              <a:gd name="adj" fmla="val 14286"/>
            </a:avLst>
          </a:prstGeom>
          <a:solidFill>
            <a:srgbClr val="FAB219"/>
          </a:solidFill>
          <a:ln w="12700">
            <a:solidFill>
              <a:srgbClr val="FAB219"/>
            </a:solidFill>
            <a:prstDash val="solid"/>
          </a:ln>
        </p:spPr>
        <p:txBody>
          <a:bodyPr/>
          <a:lstStyle/>
          <a:p>
            <a:endParaRPr lang="en-US"/>
          </a:p>
        </p:txBody>
      </p:sp>
      <p:sp>
        <p:nvSpPr>
          <p:cNvPr id="14" name="Text 10"/>
          <p:cNvSpPr/>
          <p:nvPr/>
        </p:nvSpPr>
        <p:spPr>
          <a:xfrm>
            <a:off x="7708392" y="1645920"/>
            <a:ext cx="891539" cy="288036"/>
          </a:xfrm>
          <a:prstGeom prst="rect">
            <a:avLst/>
          </a:prstGeom>
          <a:noFill/>
          <a:ln/>
        </p:spPr>
        <p:txBody>
          <a:bodyPr wrap="square" rtlCol="0" anchor="ctr"/>
          <a:lstStyle/>
          <a:p>
            <a:pPr marL="0" indent="0" algn="ctr">
              <a:buNone/>
            </a:pPr>
            <a:r>
              <a:rPr lang="en-US" sz="850" b="1" dirty="0">
                <a:solidFill>
                  <a:srgbClr val="FFFFFF"/>
                </a:solidFill>
                <a:latin typeface="Calibri" pitchFamily="34" charset="0"/>
                <a:ea typeface="Calibri" pitchFamily="34" charset="-122"/>
                <a:cs typeface="Calibri" pitchFamily="34" charset="-120"/>
              </a:rPr>
              <a:t>Excused</a:t>
            </a:r>
            <a:endParaRPr lang="en-US" sz="850" dirty="0"/>
          </a:p>
        </p:txBody>
      </p:sp>
      <p:sp>
        <p:nvSpPr>
          <p:cNvPr id="15" name="Text 11"/>
          <p:cNvSpPr/>
          <p:nvPr/>
        </p:nvSpPr>
        <p:spPr>
          <a:xfrm>
            <a:off x="5726430" y="2125979"/>
            <a:ext cx="2948940" cy="240029"/>
          </a:xfrm>
          <a:prstGeom prst="rect">
            <a:avLst/>
          </a:prstGeom>
          <a:noFill/>
          <a:ln/>
        </p:spPr>
        <p:txBody>
          <a:bodyPr wrap="square" rtlCol="0" anchor="ctr"/>
          <a:lstStyle/>
          <a:p>
            <a:pPr marL="0" indent="0">
              <a:buNone/>
            </a:pPr>
            <a:r>
              <a:rPr lang="en-US" sz="1150" b="1" dirty="0">
                <a:solidFill>
                  <a:srgbClr val="0F2A4A"/>
                </a:solidFill>
                <a:latin typeface="Calibri" pitchFamily="34" charset="0"/>
                <a:ea typeface="Calibri" pitchFamily="34" charset="-122"/>
                <a:cs typeface="Calibri" pitchFamily="34" charset="-120"/>
              </a:rPr>
              <a:t>Mark All Present, then adjust</a:t>
            </a:r>
            <a:endParaRPr lang="en-US" sz="1150" dirty="0"/>
          </a:p>
        </p:txBody>
      </p:sp>
      <p:sp>
        <p:nvSpPr>
          <p:cNvPr id="16" name="Text 12"/>
          <p:cNvSpPr/>
          <p:nvPr/>
        </p:nvSpPr>
        <p:spPr>
          <a:xfrm>
            <a:off x="5760720" y="2400300"/>
            <a:ext cx="2948940" cy="51435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One tap sets the common case. Change only the handful who are not there.</a:t>
            </a:r>
            <a:endParaRPr lang="en-US" sz="900" dirty="0"/>
          </a:p>
        </p:txBody>
      </p:sp>
      <p:sp>
        <p:nvSpPr>
          <p:cNvPr id="17" name="Text 13"/>
          <p:cNvSpPr/>
          <p:nvPr/>
        </p:nvSpPr>
        <p:spPr>
          <a:xfrm>
            <a:off x="5726430" y="2983229"/>
            <a:ext cx="2948940" cy="240029"/>
          </a:xfrm>
          <a:prstGeom prst="rect">
            <a:avLst/>
          </a:prstGeom>
          <a:noFill/>
          <a:ln/>
        </p:spPr>
        <p:txBody>
          <a:bodyPr wrap="square" rtlCol="0" anchor="ctr"/>
          <a:lstStyle/>
          <a:p>
            <a:pPr marL="0" indent="0">
              <a:buNone/>
            </a:pPr>
            <a:r>
              <a:rPr lang="en-US" sz="1150" b="1" dirty="0">
                <a:solidFill>
                  <a:srgbClr val="0F2A4A"/>
                </a:solidFill>
                <a:latin typeface="Calibri" pitchFamily="34" charset="0"/>
                <a:ea typeface="Calibri" pitchFamily="34" charset="-122"/>
                <a:cs typeface="Calibri" pitchFamily="34" charset="-120"/>
              </a:rPr>
              <a:t>Eight service types</a:t>
            </a:r>
            <a:endParaRPr lang="en-US" sz="1150" dirty="0"/>
          </a:p>
        </p:txBody>
      </p:sp>
      <p:sp>
        <p:nvSpPr>
          <p:cNvPr id="18" name="Text 14"/>
          <p:cNvSpPr/>
          <p:nvPr/>
        </p:nvSpPr>
        <p:spPr>
          <a:xfrm>
            <a:off x="5760720" y="3257550"/>
            <a:ext cx="2948940" cy="754380"/>
          </a:xfrm>
          <a:prstGeom prst="rect">
            <a:avLst/>
          </a:prstGeom>
          <a:noFill/>
          <a:ln/>
        </p:spPr>
        <p:txBody>
          <a:bodyPr wrap="square" rtlCol="0" anchor="ctr"/>
          <a:lstStyle/>
          <a:p>
            <a:pPr marL="0" indent="0">
              <a:lnSpc>
                <a:spcPts val="1800"/>
              </a:lnSpc>
              <a:buNone/>
            </a:pPr>
            <a:r>
              <a:rPr lang="en-US" sz="900" dirty="0">
                <a:solidFill>
                  <a:srgbClr val="64748B"/>
                </a:solidFill>
                <a:latin typeface="Calibri" pitchFamily="34" charset="0"/>
                <a:ea typeface="Calibri" pitchFamily="34" charset="-122"/>
                <a:cs typeface="Calibri" pitchFamily="34" charset="-120"/>
              </a:rPr>
              <a:t>Sunday · Midweek · Bible Study ·</a:t>
            </a:r>
            <a:endParaRPr lang="en-US" sz="900" dirty="0"/>
          </a:p>
          <a:p>
            <a:pPr marL="0" indent="0">
              <a:lnSpc>
                <a:spcPts val="1800"/>
              </a:lnSpc>
              <a:buNone/>
            </a:pPr>
            <a:r>
              <a:rPr lang="en-US" sz="900" dirty="0">
                <a:solidFill>
                  <a:srgbClr val="64748B"/>
                </a:solidFill>
                <a:latin typeface="Calibri" pitchFamily="34" charset="0"/>
                <a:ea typeface="Calibri" pitchFamily="34" charset="-122"/>
                <a:cs typeface="Calibri" pitchFamily="34" charset="-120"/>
              </a:rPr>
              <a:t>Prayer Meeting · Youth · Women’s ·</a:t>
            </a:r>
            <a:endParaRPr lang="en-US" sz="900" dirty="0"/>
          </a:p>
          <a:p>
            <a:pPr marL="0" indent="0">
              <a:lnSpc>
                <a:spcPts val="1800"/>
              </a:lnSpc>
              <a:buNone/>
            </a:pPr>
            <a:r>
              <a:rPr lang="en-US" sz="900" dirty="0">
                <a:solidFill>
                  <a:srgbClr val="64748B"/>
                </a:solidFill>
                <a:latin typeface="Calibri" pitchFamily="34" charset="0"/>
                <a:ea typeface="Calibri" pitchFamily="34" charset="-122"/>
                <a:cs typeface="Calibri" pitchFamily="34" charset="-120"/>
              </a:rPr>
              <a:t>Men’s · Special Programme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80059" y="596646"/>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THE HEART OF THE SYSTEM</a:t>
            </a:r>
            <a:endParaRPr lang="en-US" sz="850" dirty="0"/>
          </a:p>
        </p:txBody>
      </p:sp>
      <p:sp>
        <p:nvSpPr>
          <p:cNvPr id="3" name="Text 1"/>
          <p:cNvSpPr/>
          <p:nvPr/>
        </p:nvSpPr>
        <p:spPr>
          <a:xfrm>
            <a:off x="480059" y="685800"/>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Absence is noticed automatically</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sp>
        <p:nvSpPr>
          <p:cNvPr id="6" name="Text 3"/>
          <p:cNvSpPr/>
          <p:nvPr/>
        </p:nvSpPr>
        <p:spPr>
          <a:xfrm>
            <a:off x="480059" y="1303020"/>
            <a:ext cx="8161019" cy="27432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The system reviews attendance every night. Nobody has to remember to check.</a:t>
            </a:r>
            <a:endParaRPr lang="en-US" sz="1300" dirty="0"/>
          </a:p>
        </p:txBody>
      </p:sp>
      <p:sp>
        <p:nvSpPr>
          <p:cNvPr id="7" name="Shape 4"/>
          <p:cNvSpPr/>
          <p:nvPr/>
        </p:nvSpPr>
        <p:spPr>
          <a:xfrm>
            <a:off x="480059" y="1714500"/>
            <a:ext cx="2571750" cy="2091689"/>
          </a:xfrm>
          <a:prstGeom prst="rect">
            <a:avLst/>
          </a:prstGeom>
          <a:solidFill>
            <a:srgbClr val="FFFFFF"/>
          </a:solidFill>
          <a:ln w="12700">
            <a:solidFill>
              <a:srgbClr val="E2E8F0"/>
            </a:solidFill>
            <a:prstDash val="solid"/>
          </a:ln>
        </p:spPr>
        <p:txBody>
          <a:bodyPr/>
          <a:lstStyle/>
          <a:p>
            <a:endParaRPr lang="en-US"/>
          </a:p>
        </p:txBody>
      </p:sp>
      <p:sp>
        <p:nvSpPr>
          <p:cNvPr id="8" name="Shape 5"/>
          <p:cNvSpPr/>
          <p:nvPr/>
        </p:nvSpPr>
        <p:spPr>
          <a:xfrm>
            <a:off x="480059" y="1714500"/>
            <a:ext cx="2571750" cy="82296"/>
          </a:xfrm>
          <a:prstGeom prst="rect">
            <a:avLst/>
          </a:prstGeom>
          <a:solidFill>
            <a:srgbClr val="0EA5E9"/>
          </a:solidFill>
          <a:ln w="12700">
            <a:solidFill>
              <a:srgbClr val="0EA5E9"/>
            </a:solidFill>
            <a:prstDash val="solid"/>
          </a:ln>
        </p:spPr>
        <p:txBody>
          <a:bodyPr/>
          <a:lstStyle/>
          <a:p>
            <a:endParaRPr lang="en-US"/>
          </a:p>
        </p:txBody>
      </p:sp>
      <p:sp>
        <p:nvSpPr>
          <p:cNvPr id="9" name="Text 6"/>
          <p:cNvSpPr/>
          <p:nvPr/>
        </p:nvSpPr>
        <p:spPr>
          <a:xfrm>
            <a:off x="672084" y="1885950"/>
            <a:ext cx="754380" cy="651510"/>
          </a:xfrm>
          <a:prstGeom prst="rect">
            <a:avLst/>
          </a:prstGeom>
          <a:noFill/>
          <a:ln/>
        </p:spPr>
        <p:txBody>
          <a:bodyPr wrap="square" rtlCol="0" anchor="ctr"/>
          <a:lstStyle/>
          <a:p>
            <a:pPr marL="0" indent="0">
              <a:buNone/>
            </a:pPr>
            <a:r>
              <a:rPr lang="en-US" sz="4050" b="1" dirty="0">
                <a:solidFill>
                  <a:srgbClr val="0EA5E9"/>
                </a:solidFill>
                <a:latin typeface="Calibri" pitchFamily="34" charset="0"/>
                <a:ea typeface="Calibri" pitchFamily="34" charset="-122"/>
                <a:cs typeface="Calibri" pitchFamily="34" charset="-120"/>
              </a:rPr>
              <a:t>2</a:t>
            </a:r>
            <a:endParaRPr lang="en-US" sz="4050" dirty="0"/>
          </a:p>
        </p:txBody>
      </p:sp>
      <p:sp>
        <p:nvSpPr>
          <p:cNvPr id="10" name="Text 7"/>
          <p:cNvSpPr/>
          <p:nvPr/>
        </p:nvSpPr>
        <p:spPr>
          <a:xfrm>
            <a:off x="1405889" y="2160270"/>
            <a:ext cx="150876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services missed</a:t>
            </a:r>
            <a:endParaRPr lang="en-US" sz="900" dirty="0"/>
          </a:p>
        </p:txBody>
      </p:sp>
      <p:sp>
        <p:nvSpPr>
          <p:cNvPr id="11" name="Text 8"/>
          <p:cNvSpPr/>
          <p:nvPr/>
        </p:nvSpPr>
        <p:spPr>
          <a:xfrm>
            <a:off x="672084" y="2640329"/>
            <a:ext cx="2194560" cy="219456"/>
          </a:xfrm>
          <a:prstGeom prst="rect">
            <a:avLst/>
          </a:prstGeom>
          <a:noFill/>
          <a:ln/>
        </p:spPr>
        <p:txBody>
          <a:bodyPr wrap="square" rtlCol="0" anchor="ctr"/>
          <a:lstStyle/>
          <a:p>
            <a:pPr marL="0" indent="0">
              <a:buNone/>
            </a:pPr>
            <a:r>
              <a:rPr lang="en-US" sz="1000" b="1" kern="0" spc="100" dirty="0">
                <a:solidFill>
                  <a:srgbClr val="64748B"/>
                </a:solidFill>
                <a:latin typeface="Calibri" pitchFamily="34" charset="0"/>
                <a:ea typeface="Calibri" pitchFamily="34" charset="-122"/>
                <a:cs typeface="Calibri" pitchFamily="34" charset="-120"/>
              </a:rPr>
              <a:t>Level 1</a:t>
            </a:r>
            <a:endParaRPr lang="en-US" sz="1000" dirty="0"/>
          </a:p>
        </p:txBody>
      </p:sp>
      <p:sp>
        <p:nvSpPr>
          <p:cNvPr id="12" name="Text 9"/>
          <p:cNvSpPr/>
          <p:nvPr/>
        </p:nvSpPr>
        <p:spPr>
          <a:xfrm>
            <a:off x="672084" y="2880360"/>
            <a:ext cx="2194560" cy="288036"/>
          </a:xfrm>
          <a:prstGeom prst="rect">
            <a:avLst/>
          </a:prstGeom>
          <a:noFill/>
          <a:ln/>
        </p:spPr>
        <p:txBody>
          <a:bodyPr wrap="square" rtlCol="0" anchor="ctr"/>
          <a:lstStyle/>
          <a:p>
            <a:pPr marL="0" indent="0">
              <a:buNone/>
            </a:pPr>
            <a:r>
              <a:rPr lang="en-US" sz="1350" b="1" dirty="0">
                <a:solidFill>
                  <a:srgbClr val="0F2A4A"/>
                </a:solidFill>
                <a:latin typeface="Calibri" pitchFamily="34" charset="0"/>
                <a:ea typeface="Calibri" pitchFamily="34" charset="-122"/>
                <a:cs typeface="Calibri" pitchFamily="34" charset="-120"/>
              </a:rPr>
              <a:t>Follow-Up Reminder</a:t>
            </a:r>
            <a:endParaRPr lang="en-US" sz="1350" dirty="0"/>
          </a:p>
        </p:txBody>
      </p:sp>
      <p:sp>
        <p:nvSpPr>
          <p:cNvPr id="13" name="Text 10"/>
          <p:cNvSpPr/>
          <p:nvPr/>
        </p:nvSpPr>
        <p:spPr>
          <a:xfrm>
            <a:off x="672084" y="3209543"/>
            <a:ext cx="2194560" cy="445769"/>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 friendly check-in</a:t>
            </a:r>
            <a:endParaRPr lang="en-US" sz="900" dirty="0"/>
          </a:p>
        </p:txBody>
      </p:sp>
      <p:sp>
        <p:nvSpPr>
          <p:cNvPr id="14" name="Shape 11"/>
          <p:cNvSpPr/>
          <p:nvPr/>
        </p:nvSpPr>
        <p:spPr>
          <a:xfrm>
            <a:off x="3236976" y="1714500"/>
            <a:ext cx="2571750" cy="2091689"/>
          </a:xfrm>
          <a:prstGeom prst="rect">
            <a:avLst/>
          </a:prstGeom>
          <a:solidFill>
            <a:srgbClr val="FFFFFF"/>
          </a:solidFill>
          <a:ln w="12700">
            <a:solidFill>
              <a:srgbClr val="E2E8F0"/>
            </a:solidFill>
            <a:prstDash val="solid"/>
          </a:ln>
        </p:spPr>
        <p:txBody>
          <a:bodyPr/>
          <a:lstStyle/>
          <a:p>
            <a:endParaRPr lang="en-US"/>
          </a:p>
        </p:txBody>
      </p:sp>
      <p:sp>
        <p:nvSpPr>
          <p:cNvPr id="15" name="Shape 12"/>
          <p:cNvSpPr/>
          <p:nvPr/>
        </p:nvSpPr>
        <p:spPr>
          <a:xfrm>
            <a:off x="3236976" y="1714500"/>
            <a:ext cx="2571750" cy="82296"/>
          </a:xfrm>
          <a:prstGeom prst="rect">
            <a:avLst/>
          </a:prstGeom>
          <a:solidFill>
            <a:srgbClr val="FAB219"/>
          </a:solidFill>
          <a:ln w="12700">
            <a:solidFill>
              <a:srgbClr val="FAB219"/>
            </a:solidFill>
            <a:prstDash val="solid"/>
          </a:ln>
        </p:spPr>
        <p:txBody>
          <a:bodyPr/>
          <a:lstStyle/>
          <a:p>
            <a:endParaRPr lang="en-US"/>
          </a:p>
        </p:txBody>
      </p:sp>
      <p:sp>
        <p:nvSpPr>
          <p:cNvPr id="16" name="Text 13"/>
          <p:cNvSpPr/>
          <p:nvPr/>
        </p:nvSpPr>
        <p:spPr>
          <a:xfrm>
            <a:off x="3429000" y="1885950"/>
            <a:ext cx="754380" cy="651510"/>
          </a:xfrm>
          <a:prstGeom prst="rect">
            <a:avLst/>
          </a:prstGeom>
          <a:noFill/>
          <a:ln/>
        </p:spPr>
        <p:txBody>
          <a:bodyPr wrap="square" rtlCol="0" anchor="ctr"/>
          <a:lstStyle/>
          <a:p>
            <a:pPr marL="0" indent="0">
              <a:buNone/>
            </a:pPr>
            <a:r>
              <a:rPr lang="en-US" sz="4050" b="1" dirty="0">
                <a:solidFill>
                  <a:srgbClr val="FAB219"/>
                </a:solidFill>
                <a:latin typeface="Calibri" pitchFamily="34" charset="0"/>
                <a:ea typeface="Calibri" pitchFamily="34" charset="-122"/>
                <a:cs typeface="Calibri" pitchFamily="34" charset="-120"/>
              </a:rPr>
              <a:t>3</a:t>
            </a:r>
            <a:endParaRPr lang="en-US" sz="4050" dirty="0"/>
          </a:p>
        </p:txBody>
      </p:sp>
      <p:sp>
        <p:nvSpPr>
          <p:cNvPr id="17" name="Text 14"/>
          <p:cNvSpPr/>
          <p:nvPr/>
        </p:nvSpPr>
        <p:spPr>
          <a:xfrm>
            <a:off x="4162806" y="2160270"/>
            <a:ext cx="150876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services missed</a:t>
            </a:r>
            <a:endParaRPr lang="en-US" sz="900" dirty="0"/>
          </a:p>
        </p:txBody>
      </p:sp>
      <p:sp>
        <p:nvSpPr>
          <p:cNvPr id="18" name="Text 15"/>
          <p:cNvSpPr/>
          <p:nvPr/>
        </p:nvSpPr>
        <p:spPr>
          <a:xfrm>
            <a:off x="3429000" y="2640329"/>
            <a:ext cx="2194560" cy="219456"/>
          </a:xfrm>
          <a:prstGeom prst="rect">
            <a:avLst/>
          </a:prstGeom>
          <a:noFill/>
          <a:ln/>
        </p:spPr>
        <p:txBody>
          <a:bodyPr wrap="square" rtlCol="0" anchor="ctr"/>
          <a:lstStyle/>
          <a:p>
            <a:pPr marL="0" indent="0">
              <a:buNone/>
            </a:pPr>
            <a:r>
              <a:rPr lang="en-US" sz="1000" b="1" kern="0" spc="100" dirty="0">
                <a:solidFill>
                  <a:srgbClr val="64748B"/>
                </a:solidFill>
                <a:latin typeface="Calibri" pitchFamily="34" charset="0"/>
                <a:ea typeface="Calibri" pitchFamily="34" charset="-122"/>
                <a:cs typeface="Calibri" pitchFamily="34" charset="-120"/>
              </a:rPr>
              <a:t>Level 2</a:t>
            </a:r>
            <a:endParaRPr lang="en-US" sz="1000" dirty="0"/>
          </a:p>
        </p:txBody>
      </p:sp>
      <p:sp>
        <p:nvSpPr>
          <p:cNvPr id="19" name="Text 16"/>
          <p:cNvSpPr/>
          <p:nvPr/>
        </p:nvSpPr>
        <p:spPr>
          <a:xfrm>
            <a:off x="3429000" y="2880360"/>
            <a:ext cx="2194560" cy="288036"/>
          </a:xfrm>
          <a:prstGeom prst="rect">
            <a:avLst/>
          </a:prstGeom>
          <a:noFill/>
          <a:ln/>
        </p:spPr>
        <p:txBody>
          <a:bodyPr wrap="square" rtlCol="0" anchor="ctr"/>
          <a:lstStyle/>
          <a:p>
            <a:pPr marL="0" indent="0">
              <a:buNone/>
            </a:pPr>
            <a:r>
              <a:rPr lang="en-US" sz="1350" b="1" dirty="0">
                <a:solidFill>
                  <a:srgbClr val="0F2A4A"/>
                </a:solidFill>
                <a:latin typeface="Calibri" pitchFamily="34" charset="0"/>
                <a:ea typeface="Calibri" pitchFamily="34" charset="-122"/>
                <a:cs typeface="Calibri" pitchFamily="34" charset="-120"/>
              </a:rPr>
              <a:t>Urgent Follow-Up</a:t>
            </a:r>
            <a:endParaRPr lang="en-US" sz="1350" dirty="0"/>
          </a:p>
        </p:txBody>
      </p:sp>
      <p:sp>
        <p:nvSpPr>
          <p:cNvPr id="20" name="Text 17"/>
          <p:cNvSpPr/>
          <p:nvPr/>
        </p:nvSpPr>
        <p:spPr>
          <a:xfrm>
            <a:off x="3429000" y="3209543"/>
            <a:ext cx="2194560" cy="445769"/>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 proper phone call this week</a:t>
            </a:r>
            <a:endParaRPr lang="en-US" sz="900" dirty="0"/>
          </a:p>
        </p:txBody>
      </p:sp>
      <p:sp>
        <p:nvSpPr>
          <p:cNvPr id="21" name="Shape 18"/>
          <p:cNvSpPr/>
          <p:nvPr/>
        </p:nvSpPr>
        <p:spPr>
          <a:xfrm>
            <a:off x="5993892" y="1714500"/>
            <a:ext cx="2571750" cy="2091689"/>
          </a:xfrm>
          <a:prstGeom prst="rect">
            <a:avLst/>
          </a:prstGeom>
          <a:solidFill>
            <a:srgbClr val="FFFFFF"/>
          </a:solidFill>
          <a:ln w="12700">
            <a:solidFill>
              <a:srgbClr val="E2E8F0"/>
            </a:solidFill>
            <a:prstDash val="solid"/>
          </a:ln>
        </p:spPr>
        <p:txBody>
          <a:bodyPr/>
          <a:lstStyle/>
          <a:p>
            <a:endParaRPr lang="en-US"/>
          </a:p>
        </p:txBody>
      </p:sp>
      <p:sp>
        <p:nvSpPr>
          <p:cNvPr id="22" name="Shape 19"/>
          <p:cNvSpPr/>
          <p:nvPr/>
        </p:nvSpPr>
        <p:spPr>
          <a:xfrm>
            <a:off x="5993892" y="1714500"/>
            <a:ext cx="2571750" cy="82296"/>
          </a:xfrm>
          <a:prstGeom prst="rect">
            <a:avLst/>
          </a:prstGeom>
          <a:solidFill>
            <a:srgbClr val="D03B3B"/>
          </a:solidFill>
          <a:ln w="12700">
            <a:solidFill>
              <a:srgbClr val="D03B3B"/>
            </a:solidFill>
            <a:prstDash val="solid"/>
          </a:ln>
        </p:spPr>
        <p:txBody>
          <a:bodyPr/>
          <a:lstStyle/>
          <a:p>
            <a:endParaRPr lang="en-US"/>
          </a:p>
        </p:txBody>
      </p:sp>
      <p:sp>
        <p:nvSpPr>
          <p:cNvPr id="23" name="Text 20"/>
          <p:cNvSpPr/>
          <p:nvPr/>
        </p:nvSpPr>
        <p:spPr>
          <a:xfrm>
            <a:off x="6185916" y="1885950"/>
            <a:ext cx="754380" cy="651510"/>
          </a:xfrm>
          <a:prstGeom prst="rect">
            <a:avLst/>
          </a:prstGeom>
          <a:noFill/>
          <a:ln/>
        </p:spPr>
        <p:txBody>
          <a:bodyPr wrap="square" rtlCol="0" anchor="ctr"/>
          <a:lstStyle/>
          <a:p>
            <a:pPr marL="0" indent="0">
              <a:buNone/>
            </a:pPr>
            <a:r>
              <a:rPr lang="en-US" sz="4050" b="1" dirty="0">
                <a:solidFill>
                  <a:srgbClr val="D03B3B"/>
                </a:solidFill>
                <a:latin typeface="Calibri" pitchFamily="34" charset="0"/>
                <a:ea typeface="Calibri" pitchFamily="34" charset="-122"/>
                <a:cs typeface="Calibri" pitchFamily="34" charset="-120"/>
              </a:rPr>
              <a:t>4</a:t>
            </a:r>
            <a:endParaRPr lang="en-US" sz="4050" dirty="0"/>
          </a:p>
        </p:txBody>
      </p:sp>
      <p:sp>
        <p:nvSpPr>
          <p:cNvPr id="24" name="Text 21"/>
          <p:cNvSpPr/>
          <p:nvPr/>
        </p:nvSpPr>
        <p:spPr>
          <a:xfrm>
            <a:off x="6919722" y="2160270"/>
            <a:ext cx="1508760" cy="274320"/>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services missed</a:t>
            </a:r>
            <a:endParaRPr lang="en-US" sz="900" dirty="0"/>
          </a:p>
        </p:txBody>
      </p:sp>
      <p:sp>
        <p:nvSpPr>
          <p:cNvPr id="25" name="Text 22"/>
          <p:cNvSpPr/>
          <p:nvPr/>
        </p:nvSpPr>
        <p:spPr>
          <a:xfrm>
            <a:off x="6185916" y="2640329"/>
            <a:ext cx="2194560" cy="219456"/>
          </a:xfrm>
          <a:prstGeom prst="rect">
            <a:avLst/>
          </a:prstGeom>
          <a:noFill/>
          <a:ln/>
        </p:spPr>
        <p:txBody>
          <a:bodyPr wrap="square" rtlCol="0" anchor="ctr"/>
          <a:lstStyle/>
          <a:p>
            <a:pPr marL="0" indent="0">
              <a:buNone/>
            </a:pPr>
            <a:r>
              <a:rPr lang="en-US" sz="1000" b="1" kern="0" spc="100" dirty="0">
                <a:solidFill>
                  <a:srgbClr val="64748B"/>
                </a:solidFill>
                <a:latin typeface="Calibri" pitchFamily="34" charset="0"/>
                <a:ea typeface="Calibri" pitchFamily="34" charset="-122"/>
                <a:cs typeface="Calibri" pitchFamily="34" charset="-120"/>
              </a:rPr>
              <a:t>Level 3</a:t>
            </a:r>
            <a:endParaRPr lang="en-US" sz="1000" dirty="0"/>
          </a:p>
        </p:txBody>
      </p:sp>
      <p:sp>
        <p:nvSpPr>
          <p:cNvPr id="26" name="Text 23"/>
          <p:cNvSpPr/>
          <p:nvPr/>
        </p:nvSpPr>
        <p:spPr>
          <a:xfrm>
            <a:off x="6185916" y="2880360"/>
            <a:ext cx="2194560" cy="288036"/>
          </a:xfrm>
          <a:prstGeom prst="rect">
            <a:avLst/>
          </a:prstGeom>
          <a:noFill/>
          <a:ln/>
        </p:spPr>
        <p:txBody>
          <a:bodyPr wrap="square" rtlCol="0" anchor="ctr"/>
          <a:lstStyle/>
          <a:p>
            <a:pPr marL="0" indent="0">
              <a:buNone/>
            </a:pPr>
            <a:r>
              <a:rPr lang="en-US" sz="1350" b="1" dirty="0">
                <a:solidFill>
                  <a:srgbClr val="0F2A4A"/>
                </a:solidFill>
                <a:latin typeface="Calibri" pitchFamily="34" charset="0"/>
                <a:ea typeface="Calibri" pitchFamily="34" charset="-122"/>
                <a:cs typeface="Calibri" pitchFamily="34" charset="-120"/>
              </a:rPr>
              <a:t>Pastoral Follow-Up</a:t>
            </a:r>
            <a:endParaRPr lang="en-US" sz="1350" dirty="0"/>
          </a:p>
        </p:txBody>
      </p:sp>
      <p:sp>
        <p:nvSpPr>
          <p:cNvPr id="27" name="Text 24"/>
          <p:cNvSpPr/>
          <p:nvPr/>
        </p:nvSpPr>
        <p:spPr>
          <a:xfrm>
            <a:off x="6185916" y="3209543"/>
            <a:ext cx="2194560" cy="445769"/>
          </a:xfrm>
          <a:prstGeom prst="rect">
            <a:avLst/>
          </a:prstGeom>
          <a:noFill/>
          <a:ln/>
        </p:spPr>
        <p:txBody>
          <a:bodyPr wrap="square" rtlCol="0" anchor="ctr"/>
          <a:lstStyle/>
          <a:p>
            <a:pPr marL="0" indent="0">
              <a:buNone/>
            </a:pPr>
            <a:r>
              <a:rPr lang="en-US" sz="900" dirty="0">
                <a:solidFill>
                  <a:srgbClr val="64748B"/>
                </a:solidFill>
                <a:latin typeface="Calibri" pitchFamily="34" charset="0"/>
                <a:ea typeface="Calibri" pitchFamily="34" charset="-122"/>
                <a:cs typeface="Calibri" pitchFamily="34" charset="-120"/>
              </a:rPr>
              <a:t>A visit — roughly a month away</a:t>
            </a:r>
            <a:endParaRPr lang="en-US" sz="900" dirty="0"/>
          </a:p>
        </p:txBody>
      </p:sp>
      <p:sp>
        <p:nvSpPr>
          <p:cNvPr id="28" name="Text 25"/>
          <p:cNvSpPr/>
          <p:nvPr/>
        </p:nvSpPr>
        <p:spPr>
          <a:xfrm>
            <a:off x="480059" y="3943350"/>
            <a:ext cx="8161019" cy="274320"/>
          </a:xfrm>
          <a:prstGeom prst="rect">
            <a:avLst/>
          </a:prstGeom>
          <a:noFill/>
          <a:ln/>
        </p:spPr>
        <p:txBody>
          <a:bodyPr wrap="square" rtlCol="0" anchor="ctr"/>
          <a:lstStyle/>
          <a:p>
            <a:pPr marL="0" indent="0">
              <a:buNone/>
            </a:pPr>
            <a:r>
              <a:rPr lang="en-US" sz="1000" i="1" dirty="0">
                <a:solidFill>
                  <a:srgbClr val="B8892B"/>
                </a:solidFill>
                <a:latin typeface="Calibri" pitchFamily="34" charset="0"/>
                <a:ea typeface="Calibri" pitchFamily="34" charset="-122"/>
                <a:cs typeface="Calibri" pitchFamily="34" charset="-120"/>
              </a:rPr>
              <a:t>These thresholds are ours to set — they can be changed in Settings at any time.</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F2A4A"/>
        </a:solidFill>
        <a:effectLst/>
      </p:bgPr>
    </p:bg>
    <p:spTree>
      <p:nvGrpSpPr>
        <p:cNvPr id="1" name=""/>
        <p:cNvGrpSpPr/>
        <p:nvPr/>
      </p:nvGrpSpPr>
      <p:grpSpPr>
        <a:xfrm>
          <a:off x="0" y="0"/>
          <a:ext cx="0" cy="0"/>
          <a:chOff x="0" y="0"/>
          <a:chExt cx="0" cy="0"/>
        </a:xfrm>
      </p:grpSpPr>
      <p:sp>
        <p:nvSpPr>
          <p:cNvPr id="2" name="Text 0"/>
          <p:cNvSpPr/>
          <p:nvPr/>
        </p:nvSpPr>
        <p:spPr>
          <a:xfrm>
            <a:off x="822960" y="1371600"/>
            <a:ext cx="7543800" cy="1165860"/>
          </a:xfrm>
          <a:prstGeom prst="rect">
            <a:avLst/>
          </a:prstGeom>
          <a:noFill/>
          <a:ln/>
        </p:spPr>
        <p:txBody>
          <a:bodyPr wrap="square" rtlCol="0" anchor="ctr"/>
          <a:lstStyle/>
          <a:p>
            <a:pPr marL="0" indent="0">
              <a:lnSpc>
                <a:spcPts val="4600"/>
              </a:lnSpc>
              <a:buNone/>
            </a:pPr>
            <a:r>
              <a:rPr lang="en-US" sz="2850" b="1" dirty="0">
                <a:solidFill>
                  <a:srgbClr val="FFFFFF"/>
                </a:solidFill>
                <a:latin typeface="Calibri" pitchFamily="34" charset="0"/>
                <a:ea typeface="Calibri" pitchFamily="34" charset="-122"/>
                <a:cs typeface="Calibri" pitchFamily="34" charset="-120"/>
              </a:rPr>
              <a:t>The system never decides that</a:t>
            </a:r>
            <a:endParaRPr lang="en-US" sz="2850" dirty="0"/>
          </a:p>
          <a:p>
            <a:pPr marL="0" indent="0">
              <a:lnSpc>
                <a:spcPts val="4600"/>
              </a:lnSpc>
              <a:buNone/>
            </a:pPr>
            <a:r>
              <a:rPr lang="en-US" sz="2850" b="1" dirty="0">
                <a:solidFill>
                  <a:srgbClr val="FFFFFF"/>
                </a:solidFill>
                <a:latin typeface="Calibri" pitchFamily="34" charset="0"/>
                <a:ea typeface="Calibri" pitchFamily="34" charset="-122"/>
                <a:cs typeface="Calibri" pitchFamily="34" charset="-120"/>
              </a:rPr>
              <a:t>someone has left the church.</a:t>
            </a:r>
            <a:endParaRPr lang="en-US" sz="2850" dirty="0"/>
          </a:p>
        </p:txBody>
      </p:sp>
      <p:sp>
        <p:nvSpPr>
          <p:cNvPr id="3" name="Shape 1"/>
          <p:cNvSpPr/>
          <p:nvPr/>
        </p:nvSpPr>
        <p:spPr>
          <a:xfrm>
            <a:off x="822960" y="2708910"/>
            <a:ext cx="960119" cy="37719"/>
          </a:xfrm>
          <a:prstGeom prst="rect">
            <a:avLst/>
          </a:prstGeom>
          <a:solidFill>
            <a:srgbClr val="B8892B"/>
          </a:solidFill>
          <a:ln w="12700">
            <a:solidFill>
              <a:srgbClr val="B8892B"/>
            </a:solidFill>
            <a:prstDash val="solid"/>
          </a:ln>
        </p:spPr>
        <p:txBody>
          <a:bodyPr/>
          <a:lstStyle/>
          <a:p>
            <a:endParaRPr lang="en-US"/>
          </a:p>
        </p:txBody>
      </p:sp>
      <p:sp>
        <p:nvSpPr>
          <p:cNvPr id="4" name="Text 2"/>
          <p:cNvSpPr/>
          <p:nvPr/>
        </p:nvSpPr>
        <p:spPr>
          <a:xfrm>
            <a:off x="822960" y="2914650"/>
            <a:ext cx="7543800" cy="754380"/>
          </a:xfrm>
          <a:prstGeom prst="rect">
            <a:avLst/>
          </a:prstGeom>
          <a:noFill/>
          <a:ln/>
        </p:spPr>
        <p:txBody>
          <a:bodyPr wrap="square" rtlCol="0" anchor="ctr"/>
          <a:lstStyle/>
          <a:p>
            <a:pPr marL="0" indent="0">
              <a:lnSpc>
                <a:spcPts val="3200"/>
              </a:lnSpc>
              <a:buNone/>
            </a:pPr>
            <a:r>
              <a:rPr lang="en-US" sz="1650" dirty="0">
                <a:solidFill>
                  <a:srgbClr val="DBB877"/>
                </a:solidFill>
                <a:latin typeface="Calibri" pitchFamily="34" charset="0"/>
                <a:ea typeface="Calibri" pitchFamily="34" charset="-122"/>
                <a:cs typeface="Calibri" pitchFamily="34" charset="-120"/>
              </a:rPr>
              <a:t>It raises an alert for a person.</a:t>
            </a:r>
            <a:endParaRPr lang="en-US" sz="1650" dirty="0"/>
          </a:p>
          <a:p>
            <a:pPr marL="0" indent="0">
              <a:lnSpc>
                <a:spcPts val="3200"/>
              </a:lnSpc>
              <a:buNone/>
            </a:pPr>
            <a:r>
              <a:rPr lang="en-US" sz="1650" dirty="0">
                <a:solidFill>
                  <a:srgbClr val="DBB877"/>
                </a:solidFill>
                <a:latin typeface="Calibri" pitchFamily="34" charset="0"/>
                <a:ea typeface="Calibri" pitchFamily="34" charset="-122"/>
                <a:cs typeface="Calibri" pitchFamily="34" charset="-120"/>
              </a:rPr>
              <a:t>A person decides what it means.</a:t>
            </a:r>
            <a:endParaRPr lang="en-US" sz="16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80059" y="573215"/>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ATTENDANCE ALERTS</a:t>
            </a:r>
            <a:endParaRPr lang="en-US" sz="850" dirty="0"/>
          </a:p>
        </p:txBody>
      </p:sp>
      <p:sp>
        <p:nvSpPr>
          <p:cNvPr id="3" name="Text 1"/>
          <p:cNvSpPr/>
          <p:nvPr/>
        </p:nvSpPr>
        <p:spPr>
          <a:xfrm>
            <a:off x="480059" y="671132"/>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What an alert looks like</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sp>
        <p:nvSpPr>
          <p:cNvPr id="6" name="Shape 3"/>
          <p:cNvSpPr/>
          <p:nvPr/>
        </p:nvSpPr>
        <p:spPr>
          <a:xfrm>
            <a:off x="480059" y="1337310"/>
            <a:ext cx="4800600" cy="3051810"/>
          </a:xfrm>
          <a:prstGeom prst="rect">
            <a:avLst/>
          </a:prstGeom>
          <a:solidFill>
            <a:srgbClr val="FFFFFF"/>
          </a:solidFill>
          <a:ln w="12700">
            <a:solidFill>
              <a:srgbClr val="E2E8F0"/>
            </a:solidFill>
            <a:prstDash val="solid"/>
          </a:ln>
          <a:effectLst>
            <a:outerShdw blurRad="76200" dist="25400" dir="5400000" algn="bl" rotWithShape="0">
              <a:srgbClr val="0F172A">
                <a:alpha val="18000"/>
              </a:srgbClr>
            </a:outerShdw>
          </a:effectLst>
        </p:spPr>
        <p:txBody>
          <a:bodyPr/>
          <a:lstStyle/>
          <a:p>
            <a:endParaRPr lang="en-US"/>
          </a:p>
        </p:txBody>
      </p:sp>
      <p:pic>
        <p:nvPicPr>
          <p:cNvPr id="7" name="Image 1" descr="C:\Users\ANP\Desktop\churchconnect\tools\deck\screenshots\alerts.png"/>
          <p:cNvPicPr>
            <a:picLocks noChangeAspect="1"/>
          </p:cNvPicPr>
          <p:nvPr/>
        </p:nvPicPr>
        <p:blipFill>
          <a:blip r:embed="rId4"/>
          <a:srcRect/>
          <a:stretch/>
        </p:blipFill>
        <p:spPr>
          <a:xfrm>
            <a:off x="514350" y="1371600"/>
            <a:ext cx="4732020" cy="2983229"/>
          </a:xfrm>
          <a:prstGeom prst="rect">
            <a:avLst/>
          </a:prstGeom>
        </p:spPr>
      </p:pic>
      <p:sp>
        <p:nvSpPr>
          <p:cNvPr id="8" name="Shape 4"/>
          <p:cNvSpPr/>
          <p:nvPr/>
        </p:nvSpPr>
        <p:spPr>
          <a:xfrm>
            <a:off x="5520690" y="1337310"/>
            <a:ext cx="3140964" cy="2091689"/>
          </a:xfrm>
          <a:prstGeom prst="rect">
            <a:avLst/>
          </a:prstGeom>
          <a:solidFill>
            <a:srgbClr val="FFFFFF"/>
          </a:solidFill>
          <a:ln w="19050">
            <a:solidFill>
              <a:srgbClr val="D03B3B"/>
            </a:solidFill>
            <a:prstDash val="solid"/>
          </a:ln>
        </p:spPr>
        <p:txBody>
          <a:bodyPr/>
          <a:lstStyle/>
          <a:p>
            <a:endParaRPr lang="en-US"/>
          </a:p>
        </p:txBody>
      </p:sp>
      <p:sp>
        <p:nvSpPr>
          <p:cNvPr id="9" name="Shape 5"/>
          <p:cNvSpPr/>
          <p:nvPr/>
        </p:nvSpPr>
        <p:spPr>
          <a:xfrm>
            <a:off x="5520690" y="1337310"/>
            <a:ext cx="3140964" cy="68580"/>
          </a:xfrm>
          <a:prstGeom prst="rect">
            <a:avLst/>
          </a:prstGeom>
          <a:solidFill>
            <a:srgbClr val="D03B3B"/>
          </a:solidFill>
          <a:ln w="12700">
            <a:solidFill>
              <a:srgbClr val="D03B3B"/>
            </a:solidFill>
            <a:prstDash val="solid"/>
          </a:ln>
        </p:spPr>
        <p:txBody>
          <a:bodyPr/>
          <a:lstStyle/>
          <a:p>
            <a:endParaRPr lang="en-US"/>
          </a:p>
        </p:txBody>
      </p:sp>
      <p:sp>
        <p:nvSpPr>
          <p:cNvPr id="10" name="Text 6"/>
          <p:cNvSpPr/>
          <p:nvPr/>
        </p:nvSpPr>
        <p:spPr>
          <a:xfrm>
            <a:off x="5712714" y="1508760"/>
            <a:ext cx="2743200" cy="205740"/>
          </a:xfrm>
          <a:prstGeom prst="rect">
            <a:avLst/>
          </a:prstGeom>
          <a:noFill/>
          <a:ln/>
        </p:spPr>
        <p:txBody>
          <a:bodyPr wrap="square" rtlCol="0" anchor="ctr"/>
          <a:lstStyle/>
          <a:p>
            <a:pPr marL="0" indent="0">
              <a:buNone/>
            </a:pPr>
            <a:r>
              <a:rPr lang="en-US" sz="800" b="1" kern="0" spc="150" dirty="0">
                <a:solidFill>
                  <a:srgbClr val="D03B3B"/>
                </a:solidFill>
                <a:latin typeface="Calibri" pitchFamily="34" charset="0"/>
                <a:ea typeface="Calibri" pitchFamily="34" charset="-122"/>
                <a:cs typeface="Calibri" pitchFamily="34" charset="-120"/>
              </a:rPr>
              <a:t>ATTENDANCE ALERT</a:t>
            </a:r>
            <a:endParaRPr lang="en-US" sz="800" dirty="0"/>
          </a:p>
        </p:txBody>
      </p:sp>
      <p:sp>
        <p:nvSpPr>
          <p:cNvPr id="11" name="Text 7"/>
          <p:cNvSpPr/>
          <p:nvPr/>
        </p:nvSpPr>
        <p:spPr>
          <a:xfrm>
            <a:off x="5712714" y="1714500"/>
            <a:ext cx="2743200" cy="288036"/>
          </a:xfrm>
          <a:prstGeom prst="rect">
            <a:avLst/>
          </a:prstGeom>
          <a:noFill/>
          <a:ln/>
        </p:spPr>
        <p:txBody>
          <a:bodyPr wrap="square" rtlCol="0" anchor="ctr"/>
          <a:lstStyle/>
          <a:p>
            <a:pPr marL="0" indent="0">
              <a:buNone/>
            </a:pPr>
            <a:r>
              <a:rPr lang="en-US" sz="1600" b="1" dirty="0">
                <a:solidFill>
                  <a:srgbClr val="0F2A4A"/>
                </a:solidFill>
                <a:latin typeface="Calibri" pitchFamily="34" charset="0"/>
                <a:ea typeface="Calibri" pitchFamily="34" charset="-122"/>
                <a:cs typeface="Calibri" pitchFamily="34" charset="-120"/>
              </a:rPr>
              <a:t>John Mensah</a:t>
            </a:r>
            <a:endParaRPr lang="en-US" sz="1600" dirty="0"/>
          </a:p>
        </p:txBody>
      </p:sp>
      <p:sp>
        <p:nvSpPr>
          <p:cNvPr id="12" name="Text 8"/>
          <p:cNvSpPr/>
          <p:nvPr/>
        </p:nvSpPr>
        <p:spPr>
          <a:xfrm>
            <a:off x="5712714" y="2023110"/>
            <a:ext cx="2743200" cy="219456"/>
          </a:xfrm>
          <a:prstGeom prst="rect">
            <a:avLst/>
          </a:prstGeom>
          <a:noFill/>
          <a:ln/>
        </p:spPr>
        <p:txBody>
          <a:bodyPr wrap="square" rtlCol="0" anchor="ctr"/>
          <a:lstStyle/>
          <a:p>
            <a:pPr marL="0" indent="0">
              <a:buNone/>
            </a:pPr>
            <a:r>
              <a:rPr lang="en-US" sz="1050" dirty="0">
                <a:solidFill>
                  <a:srgbClr val="0F172A"/>
                </a:solidFill>
                <a:latin typeface="Calibri" pitchFamily="34" charset="0"/>
                <a:ea typeface="Calibri" pitchFamily="34" charset="-122"/>
                <a:cs typeface="Calibri" pitchFamily="34" charset="-120"/>
              </a:rPr>
              <a:t>Absent for 3 consecutive weeks</a:t>
            </a:r>
            <a:endParaRPr lang="en-US" sz="1050" dirty="0"/>
          </a:p>
        </p:txBody>
      </p:sp>
      <p:sp>
        <p:nvSpPr>
          <p:cNvPr id="13" name="Text 9"/>
          <p:cNvSpPr/>
          <p:nvPr/>
        </p:nvSpPr>
        <p:spPr>
          <a:xfrm>
            <a:off x="5712714" y="2276856"/>
            <a:ext cx="2743200" cy="651510"/>
          </a:xfrm>
          <a:prstGeom prst="rect">
            <a:avLst/>
          </a:prstGeom>
          <a:noFill/>
          <a:ln/>
        </p:spPr>
        <p:txBody>
          <a:bodyPr wrap="square" rtlCol="0" anchor="ctr"/>
          <a:lstStyle/>
          <a:p>
            <a:pPr marL="0" indent="0">
              <a:lnSpc>
                <a:spcPts val="1700"/>
              </a:lnSpc>
              <a:buNone/>
            </a:pPr>
            <a:r>
              <a:rPr lang="en-US" sz="900" dirty="0">
                <a:solidFill>
                  <a:srgbClr val="64748B"/>
                </a:solidFill>
                <a:latin typeface="Calibri" pitchFamily="34" charset="0"/>
                <a:ea typeface="Calibri" pitchFamily="34" charset="-122"/>
                <a:cs typeface="Calibri" pitchFamily="34" charset="-120"/>
              </a:rPr>
              <a:t>Last attendance:  19 July 2026</a:t>
            </a:r>
            <a:endParaRPr lang="en-US" sz="900" dirty="0"/>
          </a:p>
          <a:p>
            <a:pPr marL="0" indent="0">
              <a:lnSpc>
                <a:spcPts val="1700"/>
              </a:lnSpc>
              <a:buNone/>
            </a:pPr>
            <a:r>
              <a:rPr lang="en-US" sz="900" dirty="0">
                <a:solidFill>
                  <a:srgbClr val="64748B"/>
                </a:solidFill>
                <a:latin typeface="Calibri" pitchFamily="34" charset="0"/>
                <a:ea typeface="Calibri" pitchFamily="34" charset="-122"/>
                <a:cs typeface="Calibri" pitchFamily="34" charset="-120"/>
              </a:rPr>
              <a:t>Department:  Ushering</a:t>
            </a:r>
            <a:endParaRPr lang="en-US" sz="900" dirty="0"/>
          </a:p>
          <a:p>
            <a:pPr marL="0" indent="0">
              <a:lnSpc>
                <a:spcPts val="1700"/>
              </a:lnSpc>
              <a:buNone/>
            </a:pPr>
            <a:r>
              <a:rPr lang="en-US" sz="900" dirty="0">
                <a:solidFill>
                  <a:srgbClr val="64748B"/>
                </a:solidFill>
                <a:latin typeface="Calibri" pitchFamily="34" charset="0"/>
                <a:ea typeface="Calibri" pitchFamily="34" charset="-122"/>
                <a:cs typeface="Calibri" pitchFamily="34" charset="-120"/>
              </a:rPr>
              <a:t>Phone:  024 000 0000</a:t>
            </a:r>
            <a:endParaRPr lang="en-US" sz="900" dirty="0"/>
          </a:p>
        </p:txBody>
      </p:sp>
      <p:sp>
        <p:nvSpPr>
          <p:cNvPr id="14" name="Shape 10"/>
          <p:cNvSpPr/>
          <p:nvPr/>
        </p:nvSpPr>
        <p:spPr>
          <a:xfrm>
            <a:off x="5712714" y="2983229"/>
            <a:ext cx="1371600" cy="308609"/>
          </a:xfrm>
          <a:prstGeom prst="roundRect">
            <a:avLst>
              <a:gd name="adj" fmla="val 13333"/>
            </a:avLst>
          </a:prstGeom>
          <a:solidFill>
            <a:srgbClr val="0F2A4A"/>
          </a:solidFill>
          <a:ln w="12700">
            <a:solidFill>
              <a:srgbClr val="0F2A4A"/>
            </a:solidFill>
            <a:prstDash val="solid"/>
          </a:ln>
        </p:spPr>
        <p:txBody>
          <a:bodyPr/>
          <a:lstStyle/>
          <a:p>
            <a:endParaRPr lang="en-US"/>
          </a:p>
        </p:txBody>
      </p:sp>
      <p:sp>
        <p:nvSpPr>
          <p:cNvPr id="15" name="Text 11"/>
          <p:cNvSpPr/>
          <p:nvPr/>
        </p:nvSpPr>
        <p:spPr>
          <a:xfrm>
            <a:off x="5712714" y="2983229"/>
            <a:ext cx="1371600" cy="308609"/>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Start Follow-Up</a:t>
            </a:r>
            <a:endParaRPr lang="en-US" sz="900" dirty="0"/>
          </a:p>
        </p:txBody>
      </p:sp>
      <p:sp>
        <p:nvSpPr>
          <p:cNvPr id="16" name="Text 12"/>
          <p:cNvSpPr/>
          <p:nvPr/>
        </p:nvSpPr>
        <p:spPr>
          <a:xfrm>
            <a:off x="5520690" y="3566159"/>
            <a:ext cx="3140964" cy="685800"/>
          </a:xfrm>
          <a:prstGeom prst="rect">
            <a:avLst/>
          </a:prstGeom>
          <a:noFill/>
          <a:ln/>
        </p:spPr>
        <p:txBody>
          <a:bodyPr wrap="square" rtlCol="0" anchor="ctr"/>
          <a:lstStyle/>
          <a:p>
            <a:pPr marL="0" indent="0">
              <a:lnSpc>
                <a:spcPts val="1700"/>
              </a:lnSpc>
              <a:buNone/>
            </a:pPr>
            <a:r>
              <a:rPr lang="en-US" sz="900" i="1" dirty="0">
                <a:solidFill>
                  <a:srgbClr val="B8892B"/>
                </a:solidFill>
                <a:latin typeface="Calibri" pitchFamily="34" charset="0"/>
                <a:ea typeface="Calibri" pitchFamily="34" charset="-122"/>
                <a:cs typeface="Calibri" pitchFamily="34" charset="-120"/>
              </a:rPr>
              <a:t>In our sample data the system flagged 13 members from twelve weeks of attendance — 5 at Level 1, 2 at Level 2, 6 at Level 3.</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80059" y="572643"/>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FOLLOW-UP MANAGEMENT</a:t>
            </a:r>
            <a:endParaRPr lang="en-US" sz="850" dirty="0"/>
          </a:p>
        </p:txBody>
      </p:sp>
      <p:sp>
        <p:nvSpPr>
          <p:cNvPr id="3" name="Text 1"/>
          <p:cNvSpPr/>
          <p:nvPr/>
        </p:nvSpPr>
        <p:spPr>
          <a:xfrm>
            <a:off x="480059" y="682371"/>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Follow-up is a conversation, not a tick-box</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sp>
        <p:nvSpPr>
          <p:cNvPr id="6" name="Shape 3"/>
          <p:cNvSpPr/>
          <p:nvPr/>
        </p:nvSpPr>
        <p:spPr>
          <a:xfrm>
            <a:off x="480059" y="1337310"/>
            <a:ext cx="4800600" cy="2125979"/>
          </a:xfrm>
          <a:prstGeom prst="rect">
            <a:avLst/>
          </a:prstGeom>
          <a:solidFill>
            <a:srgbClr val="FFFFFF"/>
          </a:solidFill>
          <a:ln w="12700">
            <a:solidFill>
              <a:srgbClr val="E2E8F0"/>
            </a:solidFill>
            <a:prstDash val="solid"/>
          </a:ln>
          <a:effectLst>
            <a:outerShdw blurRad="76200" dist="25400" dir="5400000" algn="bl" rotWithShape="0">
              <a:srgbClr val="0F172A">
                <a:alpha val="18000"/>
              </a:srgbClr>
            </a:outerShdw>
          </a:effectLst>
        </p:spPr>
        <p:txBody>
          <a:bodyPr/>
          <a:lstStyle/>
          <a:p>
            <a:endParaRPr lang="en-US"/>
          </a:p>
        </p:txBody>
      </p:sp>
      <p:pic>
        <p:nvPicPr>
          <p:cNvPr id="7" name="Image 1" descr="C:\Users\ANP\Desktop\churchconnect\tools\deck\screenshots\follow-up.png"/>
          <p:cNvPicPr>
            <a:picLocks noChangeAspect="1"/>
          </p:cNvPicPr>
          <p:nvPr/>
        </p:nvPicPr>
        <p:blipFill>
          <a:blip r:embed="rId4"/>
          <a:srcRect/>
          <a:stretch/>
        </p:blipFill>
        <p:spPr>
          <a:xfrm>
            <a:off x="514350" y="1371600"/>
            <a:ext cx="4732020" cy="2057400"/>
          </a:xfrm>
          <a:prstGeom prst="rect">
            <a:avLst/>
          </a:prstGeom>
        </p:spPr>
      </p:pic>
      <p:sp>
        <p:nvSpPr>
          <p:cNvPr id="8" name="Text 4"/>
          <p:cNvSpPr/>
          <p:nvPr/>
        </p:nvSpPr>
        <p:spPr>
          <a:xfrm>
            <a:off x="5520690" y="1337310"/>
            <a:ext cx="3154679" cy="240029"/>
          </a:xfrm>
          <a:prstGeom prst="rect">
            <a:avLst/>
          </a:prstGeom>
          <a:noFill/>
          <a:ln/>
        </p:spPr>
        <p:txBody>
          <a:bodyPr wrap="square" rtlCol="0" anchor="ctr"/>
          <a:lstStyle/>
          <a:p>
            <a:pPr marL="0" indent="0">
              <a:buNone/>
            </a:pPr>
            <a:r>
              <a:rPr lang="en-US" sz="1150" b="1" dirty="0">
                <a:solidFill>
                  <a:srgbClr val="0F2A4A"/>
                </a:solidFill>
                <a:latin typeface="Calibri" pitchFamily="34" charset="0"/>
                <a:ea typeface="Calibri" pitchFamily="34" charset="-122"/>
                <a:cs typeface="Calibri" pitchFamily="34" charset="-120"/>
              </a:rPr>
              <a:t>Six statuses</a:t>
            </a:r>
            <a:endParaRPr lang="en-US" sz="1150" dirty="0"/>
          </a:p>
        </p:txBody>
      </p:sp>
      <p:sp>
        <p:nvSpPr>
          <p:cNvPr id="9" name="Text 5"/>
          <p:cNvSpPr/>
          <p:nvPr/>
        </p:nvSpPr>
        <p:spPr>
          <a:xfrm>
            <a:off x="5554980" y="1611630"/>
            <a:ext cx="3086100" cy="1783079"/>
          </a:xfrm>
          <a:prstGeom prst="rect">
            <a:avLst/>
          </a:prstGeom>
          <a:noFill/>
          <a:ln/>
        </p:spPr>
        <p:txBody>
          <a:bodyPr wrap="square" rtlCol="0" anchor="t"/>
          <a:lstStyle/>
          <a:p>
            <a:pPr marL="342900" indent="-342900">
              <a:spcAft>
                <a:spcPts val="600"/>
              </a:spcAft>
              <a:buSzPct val="100000"/>
              <a:buChar char="•"/>
            </a:pPr>
            <a:r>
              <a:rPr lang="en-US" sz="900" dirty="0">
                <a:solidFill>
                  <a:srgbClr val="0F172A"/>
                </a:solidFill>
                <a:latin typeface="Calibri" pitchFamily="34" charset="0"/>
                <a:ea typeface="Calibri" pitchFamily="34" charset="-122"/>
                <a:cs typeface="Calibri" pitchFamily="34" charset="-120"/>
              </a:rPr>
              <a:t>Pending</a:t>
            </a:r>
            <a:endParaRPr lang="en-US" sz="900" dirty="0"/>
          </a:p>
          <a:p>
            <a:pPr marL="342900" indent="-342900">
              <a:spcAft>
                <a:spcPts val="600"/>
              </a:spcAft>
              <a:buSzPct val="100000"/>
              <a:buChar char="•"/>
            </a:pPr>
            <a:r>
              <a:rPr lang="en-US" sz="900" dirty="0">
                <a:solidFill>
                  <a:srgbClr val="0F172A"/>
                </a:solidFill>
                <a:latin typeface="Calibri" pitchFamily="34" charset="0"/>
                <a:ea typeface="Calibri" pitchFamily="34" charset="-122"/>
                <a:cs typeface="Calibri" pitchFamily="34" charset="-120"/>
              </a:rPr>
              <a:t>Contacted</a:t>
            </a:r>
            <a:endParaRPr lang="en-US" sz="900" dirty="0"/>
          </a:p>
          <a:p>
            <a:pPr marL="342900" indent="-342900">
              <a:spcAft>
                <a:spcPts val="600"/>
              </a:spcAft>
              <a:buSzPct val="100000"/>
              <a:buChar char="•"/>
            </a:pPr>
            <a:r>
              <a:rPr lang="en-US" sz="900" dirty="0">
                <a:solidFill>
                  <a:srgbClr val="0F172A"/>
                </a:solidFill>
                <a:latin typeface="Calibri" pitchFamily="34" charset="0"/>
                <a:ea typeface="Calibri" pitchFamily="34" charset="-122"/>
                <a:cs typeface="Calibri" pitchFamily="34" charset="-120"/>
              </a:rPr>
              <a:t>Responded</a:t>
            </a:r>
            <a:endParaRPr lang="en-US" sz="900" dirty="0"/>
          </a:p>
          <a:p>
            <a:pPr marL="342900" indent="-342900">
              <a:spcAft>
                <a:spcPts val="600"/>
              </a:spcAft>
              <a:buSzPct val="100000"/>
              <a:buChar char="•"/>
            </a:pPr>
            <a:r>
              <a:rPr lang="en-US" sz="900" dirty="0">
                <a:solidFill>
                  <a:srgbClr val="0F172A"/>
                </a:solidFill>
                <a:latin typeface="Calibri" pitchFamily="34" charset="0"/>
                <a:ea typeface="Calibri" pitchFamily="34" charset="-122"/>
                <a:cs typeface="Calibri" pitchFamily="34" charset="-120"/>
              </a:rPr>
              <a:t>Needs Further Follow-Up</a:t>
            </a:r>
            <a:endParaRPr lang="en-US" sz="900" dirty="0"/>
          </a:p>
          <a:p>
            <a:pPr marL="342900" indent="-342900">
              <a:spcAft>
                <a:spcPts val="600"/>
              </a:spcAft>
              <a:buSzPct val="100000"/>
              <a:buChar char="•"/>
            </a:pPr>
            <a:r>
              <a:rPr lang="en-US" sz="900" dirty="0">
                <a:solidFill>
                  <a:srgbClr val="0F172A"/>
                </a:solidFill>
                <a:latin typeface="Calibri" pitchFamily="34" charset="0"/>
                <a:ea typeface="Calibri" pitchFamily="34" charset="-122"/>
                <a:cs typeface="Calibri" pitchFamily="34" charset="-120"/>
              </a:rPr>
              <a:t>Resolved</a:t>
            </a:r>
            <a:endParaRPr lang="en-US" sz="900" dirty="0"/>
          </a:p>
          <a:p>
            <a:pPr marL="342900" indent="-342900">
              <a:spcAft>
                <a:spcPts val="600"/>
              </a:spcAft>
              <a:buSzPct val="100000"/>
              <a:buChar char="•"/>
            </a:pPr>
            <a:r>
              <a:rPr lang="en-US" sz="900" dirty="0">
                <a:solidFill>
                  <a:srgbClr val="0F172A"/>
                </a:solidFill>
                <a:latin typeface="Calibri" pitchFamily="34" charset="0"/>
                <a:ea typeface="Calibri" pitchFamily="34" charset="-122"/>
                <a:cs typeface="Calibri" pitchFamily="34" charset="-120"/>
              </a:rPr>
              <a:t>Unable to Reach</a:t>
            </a:r>
            <a:endParaRPr lang="en-US" sz="900" dirty="0"/>
          </a:p>
        </p:txBody>
      </p:sp>
      <p:sp>
        <p:nvSpPr>
          <p:cNvPr id="10" name="Shape 6"/>
          <p:cNvSpPr/>
          <p:nvPr/>
        </p:nvSpPr>
        <p:spPr>
          <a:xfrm>
            <a:off x="480059" y="3600450"/>
            <a:ext cx="4800600" cy="788669"/>
          </a:xfrm>
          <a:prstGeom prst="rect">
            <a:avLst/>
          </a:prstGeom>
          <a:solidFill>
            <a:srgbClr val="EEF2F7"/>
          </a:solidFill>
          <a:ln w="12700">
            <a:solidFill>
              <a:srgbClr val="EEF2F7"/>
            </a:solidFill>
            <a:prstDash val="solid"/>
          </a:ln>
        </p:spPr>
        <p:txBody>
          <a:bodyPr/>
          <a:lstStyle/>
          <a:p>
            <a:endParaRPr lang="en-US"/>
          </a:p>
        </p:txBody>
      </p:sp>
      <p:sp>
        <p:nvSpPr>
          <p:cNvPr id="11" name="Text 7"/>
          <p:cNvSpPr/>
          <p:nvPr/>
        </p:nvSpPr>
        <p:spPr>
          <a:xfrm>
            <a:off x="651510" y="3703320"/>
            <a:ext cx="4526280" cy="582930"/>
          </a:xfrm>
          <a:prstGeom prst="rect">
            <a:avLst/>
          </a:prstGeom>
          <a:noFill/>
          <a:ln/>
        </p:spPr>
        <p:txBody>
          <a:bodyPr wrap="square" rtlCol="0" anchor="ctr"/>
          <a:lstStyle/>
          <a:p>
            <a:pPr marL="0" indent="0">
              <a:lnSpc>
                <a:spcPts val="2000"/>
              </a:lnSpc>
              <a:buNone/>
            </a:pPr>
            <a:r>
              <a:rPr lang="en-US" sz="1000" i="1" dirty="0">
                <a:solidFill>
                  <a:srgbClr val="0F2A4A"/>
                </a:solidFill>
                <a:latin typeface="Calibri" pitchFamily="34" charset="0"/>
                <a:ea typeface="Calibri" pitchFamily="34" charset="-122"/>
                <a:cs typeface="Calibri" pitchFamily="34" charset="-120"/>
              </a:rPr>
              <a:t>“Member was contacted and stated that he travelled for work.</a:t>
            </a:r>
            <a:endParaRPr lang="en-US" sz="1000" dirty="0"/>
          </a:p>
          <a:p>
            <a:pPr marL="0" indent="0">
              <a:lnSpc>
                <a:spcPts val="2000"/>
              </a:lnSpc>
              <a:buNone/>
            </a:pPr>
            <a:r>
              <a:rPr lang="en-US" sz="1000" i="1" dirty="0">
                <a:solidFill>
                  <a:srgbClr val="0F2A4A"/>
                </a:solidFill>
                <a:latin typeface="Calibri" pitchFamily="34" charset="0"/>
                <a:ea typeface="Calibri" pitchFamily="34" charset="-122"/>
                <a:cs typeface="Calibri" pitchFamily="34" charset="-120"/>
              </a:rPr>
              <a:t>Expected to return next Sunday.”</a:t>
            </a:r>
            <a:endParaRPr lang="en-US" sz="1000" dirty="0"/>
          </a:p>
        </p:txBody>
      </p:sp>
      <p:sp>
        <p:nvSpPr>
          <p:cNvPr id="12" name="Text 8"/>
          <p:cNvSpPr/>
          <p:nvPr/>
        </p:nvSpPr>
        <p:spPr>
          <a:xfrm>
            <a:off x="5520690" y="3600450"/>
            <a:ext cx="3154679" cy="617219"/>
          </a:xfrm>
          <a:prstGeom prst="rect">
            <a:avLst/>
          </a:prstGeom>
          <a:noFill/>
          <a:ln/>
        </p:spPr>
        <p:txBody>
          <a:bodyPr wrap="square" rtlCol="0" anchor="ctr"/>
          <a:lstStyle/>
          <a:p>
            <a:pPr marL="0" indent="0">
              <a:buNone/>
            </a:pPr>
            <a:r>
              <a:rPr lang="en-US" sz="1000" b="1" dirty="0">
                <a:solidFill>
                  <a:srgbClr val="D03B3B"/>
                </a:solidFill>
                <a:latin typeface="Calibri" pitchFamily="34" charset="0"/>
                <a:ea typeface="Calibri" pitchFamily="34" charset="-122"/>
                <a:cs typeface="Calibri" pitchFamily="34" charset="-120"/>
              </a:rPr>
              <a:t>Overdue cases are flagged automatically.</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80059" y="599122"/>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BIRTHDAYS</a:t>
            </a:r>
            <a:endParaRPr lang="en-US" sz="850" dirty="0"/>
          </a:p>
        </p:txBody>
      </p:sp>
      <p:sp>
        <p:nvSpPr>
          <p:cNvPr id="3" name="Text 1"/>
          <p:cNvSpPr/>
          <p:nvPr/>
        </p:nvSpPr>
        <p:spPr>
          <a:xfrm>
            <a:off x="480059" y="712279"/>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Nobody is forgotten</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sp>
        <p:nvSpPr>
          <p:cNvPr id="6" name="Shape 3"/>
          <p:cNvSpPr/>
          <p:nvPr/>
        </p:nvSpPr>
        <p:spPr>
          <a:xfrm>
            <a:off x="480059" y="1337310"/>
            <a:ext cx="5006340" cy="3051810"/>
          </a:xfrm>
          <a:prstGeom prst="rect">
            <a:avLst/>
          </a:prstGeom>
          <a:solidFill>
            <a:srgbClr val="FFFFFF"/>
          </a:solidFill>
          <a:ln w="12700">
            <a:solidFill>
              <a:srgbClr val="E2E8F0"/>
            </a:solidFill>
            <a:prstDash val="solid"/>
          </a:ln>
          <a:effectLst>
            <a:outerShdw blurRad="76200" dist="25400" dir="5400000" algn="bl" rotWithShape="0">
              <a:srgbClr val="0F172A">
                <a:alpha val="18000"/>
              </a:srgbClr>
            </a:outerShdw>
          </a:effectLst>
        </p:spPr>
        <p:txBody>
          <a:bodyPr/>
          <a:lstStyle/>
          <a:p>
            <a:endParaRPr lang="en-US"/>
          </a:p>
        </p:txBody>
      </p:sp>
      <p:pic>
        <p:nvPicPr>
          <p:cNvPr id="7" name="Image 1" descr="C:\Users\ANP\Desktop\churchconnect\tools\deck\screenshots\birthdays.png"/>
          <p:cNvPicPr>
            <a:picLocks noChangeAspect="1"/>
          </p:cNvPicPr>
          <p:nvPr/>
        </p:nvPicPr>
        <p:blipFill>
          <a:blip r:embed="rId4"/>
          <a:srcRect/>
          <a:stretch/>
        </p:blipFill>
        <p:spPr>
          <a:xfrm>
            <a:off x="514350" y="1371600"/>
            <a:ext cx="4937759" cy="2983229"/>
          </a:xfrm>
          <a:prstGeom prst="rect">
            <a:avLst/>
          </a:prstGeom>
        </p:spPr>
      </p:pic>
      <p:sp>
        <p:nvSpPr>
          <p:cNvPr id="8" name="Text 4"/>
          <p:cNvSpPr/>
          <p:nvPr/>
        </p:nvSpPr>
        <p:spPr>
          <a:xfrm>
            <a:off x="5726430" y="1337310"/>
            <a:ext cx="2948940" cy="411480"/>
          </a:xfrm>
          <a:prstGeom prst="rect">
            <a:avLst/>
          </a:prstGeom>
          <a:noFill/>
          <a:ln/>
        </p:spPr>
        <p:txBody>
          <a:bodyPr wrap="square" rtlCol="0" anchor="ctr"/>
          <a:lstStyle/>
          <a:p>
            <a:pPr marL="0" indent="0">
              <a:buNone/>
            </a:pPr>
            <a:r>
              <a:rPr lang="en-US" sz="1150" b="1" dirty="0">
                <a:solidFill>
                  <a:srgbClr val="0F2A4A"/>
                </a:solidFill>
                <a:latin typeface="Calibri" pitchFamily="34" charset="0"/>
                <a:ea typeface="Calibri" pitchFamily="34" charset="-122"/>
                <a:cs typeface="Calibri" pitchFamily="34" charset="-120"/>
              </a:rPr>
              <a:t>Reminders are generated automatically</a:t>
            </a:r>
            <a:endParaRPr lang="en-US" sz="1150" dirty="0"/>
          </a:p>
        </p:txBody>
      </p:sp>
      <p:sp>
        <p:nvSpPr>
          <p:cNvPr id="9" name="Shape 5"/>
          <p:cNvSpPr/>
          <p:nvPr/>
        </p:nvSpPr>
        <p:spPr>
          <a:xfrm>
            <a:off x="5760720" y="1783079"/>
            <a:ext cx="2880360" cy="329184"/>
          </a:xfrm>
          <a:prstGeom prst="roundRect">
            <a:avLst>
              <a:gd name="adj" fmla="val 12500"/>
            </a:avLst>
          </a:prstGeom>
          <a:solidFill>
            <a:srgbClr val="FFFFFF"/>
          </a:solidFill>
          <a:ln w="12700">
            <a:solidFill>
              <a:srgbClr val="B8892B"/>
            </a:solidFill>
            <a:prstDash val="solid"/>
          </a:ln>
        </p:spPr>
        <p:txBody>
          <a:bodyPr/>
          <a:lstStyle/>
          <a:p>
            <a:endParaRPr lang="en-US"/>
          </a:p>
        </p:txBody>
      </p:sp>
      <p:sp>
        <p:nvSpPr>
          <p:cNvPr id="10" name="Text 6"/>
          <p:cNvSpPr/>
          <p:nvPr/>
        </p:nvSpPr>
        <p:spPr>
          <a:xfrm>
            <a:off x="5897880" y="1783079"/>
            <a:ext cx="2674620" cy="329184"/>
          </a:xfrm>
          <a:prstGeom prst="rect">
            <a:avLst/>
          </a:prstGeom>
          <a:noFill/>
          <a:ln/>
        </p:spPr>
        <p:txBody>
          <a:bodyPr wrap="square" rtlCol="0" anchor="ctr"/>
          <a:lstStyle/>
          <a:p>
            <a:pPr marL="0" indent="0">
              <a:buNone/>
            </a:pPr>
            <a:r>
              <a:rPr lang="en-US" sz="1000" dirty="0">
                <a:solidFill>
                  <a:srgbClr val="0F2A4A"/>
                </a:solidFill>
                <a:latin typeface="Calibri" pitchFamily="34" charset="0"/>
                <a:ea typeface="Calibri" pitchFamily="34" charset="-122"/>
                <a:cs typeface="Calibri" pitchFamily="34" charset="-120"/>
              </a:rPr>
              <a:t>7 days before</a:t>
            </a:r>
            <a:endParaRPr lang="en-US" sz="1000" dirty="0"/>
          </a:p>
        </p:txBody>
      </p:sp>
      <p:sp>
        <p:nvSpPr>
          <p:cNvPr id="11" name="Shape 7"/>
          <p:cNvSpPr/>
          <p:nvPr/>
        </p:nvSpPr>
        <p:spPr>
          <a:xfrm>
            <a:off x="5760720" y="2208276"/>
            <a:ext cx="2880360" cy="329184"/>
          </a:xfrm>
          <a:prstGeom prst="roundRect">
            <a:avLst>
              <a:gd name="adj" fmla="val 12500"/>
            </a:avLst>
          </a:prstGeom>
          <a:solidFill>
            <a:srgbClr val="FFFFFF"/>
          </a:solidFill>
          <a:ln w="12700">
            <a:solidFill>
              <a:srgbClr val="B8892B"/>
            </a:solidFill>
            <a:prstDash val="solid"/>
          </a:ln>
        </p:spPr>
        <p:txBody>
          <a:bodyPr/>
          <a:lstStyle/>
          <a:p>
            <a:endParaRPr lang="en-US"/>
          </a:p>
        </p:txBody>
      </p:sp>
      <p:sp>
        <p:nvSpPr>
          <p:cNvPr id="12" name="Text 8"/>
          <p:cNvSpPr/>
          <p:nvPr/>
        </p:nvSpPr>
        <p:spPr>
          <a:xfrm>
            <a:off x="5897880" y="2208276"/>
            <a:ext cx="2674620" cy="329184"/>
          </a:xfrm>
          <a:prstGeom prst="rect">
            <a:avLst/>
          </a:prstGeom>
          <a:noFill/>
          <a:ln/>
        </p:spPr>
        <p:txBody>
          <a:bodyPr wrap="square" rtlCol="0" anchor="ctr"/>
          <a:lstStyle/>
          <a:p>
            <a:pPr marL="0" indent="0">
              <a:buNone/>
            </a:pPr>
            <a:r>
              <a:rPr lang="en-US" sz="1000" dirty="0">
                <a:solidFill>
                  <a:srgbClr val="0F2A4A"/>
                </a:solidFill>
                <a:latin typeface="Calibri" pitchFamily="34" charset="0"/>
                <a:ea typeface="Calibri" pitchFamily="34" charset="-122"/>
                <a:cs typeface="Calibri" pitchFamily="34" charset="-120"/>
              </a:rPr>
              <a:t>3 days before</a:t>
            </a:r>
            <a:endParaRPr lang="en-US" sz="1000" dirty="0"/>
          </a:p>
        </p:txBody>
      </p:sp>
      <p:sp>
        <p:nvSpPr>
          <p:cNvPr id="13" name="Shape 9"/>
          <p:cNvSpPr/>
          <p:nvPr/>
        </p:nvSpPr>
        <p:spPr>
          <a:xfrm>
            <a:off x="5760720" y="2633472"/>
            <a:ext cx="2880360" cy="329184"/>
          </a:xfrm>
          <a:prstGeom prst="roundRect">
            <a:avLst>
              <a:gd name="adj" fmla="val 12500"/>
            </a:avLst>
          </a:prstGeom>
          <a:solidFill>
            <a:srgbClr val="FFFFFF"/>
          </a:solidFill>
          <a:ln w="12700">
            <a:solidFill>
              <a:srgbClr val="B8892B"/>
            </a:solidFill>
            <a:prstDash val="solid"/>
          </a:ln>
        </p:spPr>
        <p:txBody>
          <a:bodyPr/>
          <a:lstStyle/>
          <a:p>
            <a:endParaRPr lang="en-US"/>
          </a:p>
        </p:txBody>
      </p:sp>
      <p:sp>
        <p:nvSpPr>
          <p:cNvPr id="14" name="Text 10"/>
          <p:cNvSpPr/>
          <p:nvPr/>
        </p:nvSpPr>
        <p:spPr>
          <a:xfrm>
            <a:off x="5897880" y="2633472"/>
            <a:ext cx="2674620" cy="329184"/>
          </a:xfrm>
          <a:prstGeom prst="rect">
            <a:avLst/>
          </a:prstGeom>
          <a:noFill/>
          <a:ln/>
        </p:spPr>
        <p:txBody>
          <a:bodyPr wrap="square" rtlCol="0" anchor="ctr"/>
          <a:lstStyle/>
          <a:p>
            <a:pPr marL="0" indent="0">
              <a:buNone/>
            </a:pPr>
            <a:r>
              <a:rPr lang="en-US" sz="1000" dirty="0">
                <a:solidFill>
                  <a:srgbClr val="0F2A4A"/>
                </a:solidFill>
                <a:latin typeface="Calibri" pitchFamily="34" charset="0"/>
                <a:ea typeface="Calibri" pitchFamily="34" charset="-122"/>
                <a:cs typeface="Calibri" pitchFamily="34" charset="-120"/>
              </a:rPr>
              <a:t>1 day before</a:t>
            </a:r>
            <a:endParaRPr lang="en-US" sz="1000" dirty="0"/>
          </a:p>
        </p:txBody>
      </p:sp>
      <p:sp>
        <p:nvSpPr>
          <p:cNvPr id="15" name="Shape 11"/>
          <p:cNvSpPr/>
          <p:nvPr/>
        </p:nvSpPr>
        <p:spPr>
          <a:xfrm>
            <a:off x="5760720" y="3058668"/>
            <a:ext cx="2880360" cy="329184"/>
          </a:xfrm>
          <a:prstGeom prst="roundRect">
            <a:avLst>
              <a:gd name="adj" fmla="val 12500"/>
            </a:avLst>
          </a:prstGeom>
          <a:solidFill>
            <a:srgbClr val="FFFFFF"/>
          </a:solidFill>
          <a:ln w="12700">
            <a:solidFill>
              <a:srgbClr val="B8892B"/>
            </a:solidFill>
            <a:prstDash val="solid"/>
          </a:ln>
        </p:spPr>
        <p:txBody>
          <a:bodyPr/>
          <a:lstStyle/>
          <a:p>
            <a:endParaRPr lang="en-US"/>
          </a:p>
        </p:txBody>
      </p:sp>
      <p:sp>
        <p:nvSpPr>
          <p:cNvPr id="16" name="Text 12"/>
          <p:cNvSpPr/>
          <p:nvPr/>
        </p:nvSpPr>
        <p:spPr>
          <a:xfrm>
            <a:off x="5897880" y="3058668"/>
            <a:ext cx="2674620" cy="329184"/>
          </a:xfrm>
          <a:prstGeom prst="rect">
            <a:avLst/>
          </a:prstGeom>
          <a:noFill/>
          <a:ln/>
        </p:spPr>
        <p:txBody>
          <a:bodyPr wrap="square" rtlCol="0" anchor="ctr"/>
          <a:lstStyle/>
          <a:p>
            <a:pPr marL="0" indent="0">
              <a:buNone/>
            </a:pPr>
            <a:r>
              <a:rPr lang="en-US" sz="1000" dirty="0">
                <a:solidFill>
                  <a:srgbClr val="0F2A4A"/>
                </a:solidFill>
                <a:latin typeface="Calibri" pitchFamily="34" charset="0"/>
                <a:ea typeface="Calibri" pitchFamily="34" charset="-122"/>
                <a:cs typeface="Calibri" pitchFamily="34" charset="-120"/>
              </a:rPr>
              <a:t>On the day</a:t>
            </a:r>
            <a:endParaRPr lang="en-US" sz="1000" dirty="0"/>
          </a:p>
        </p:txBody>
      </p:sp>
      <p:sp>
        <p:nvSpPr>
          <p:cNvPr id="17" name="Shape 13"/>
          <p:cNvSpPr/>
          <p:nvPr/>
        </p:nvSpPr>
        <p:spPr>
          <a:xfrm>
            <a:off x="5760720" y="3634740"/>
            <a:ext cx="2880360" cy="720090"/>
          </a:xfrm>
          <a:prstGeom prst="rect">
            <a:avLst/>
          </a:prstGeom>
          <a:solidFill>
            <a:srgbClr val="EEF2F7"/>
          </a:solidFill>
          <a:ln w="12700">
            <a:solidFill>
              <a:srgbClr val="EEF2F7"/>
            </a:solidFill>
            <a:prstDash val="solid"/>
          </a:ln>
        </p:spPr>
        <p:txBody>
          <a:bodyPr/>
          <a:lstStyle/>
          <a:p>
            <a:endParaRPr lang="en-US"/>
          </a:p>
        </p:txBody>
      </p:sp>
      <p:sp>
        <p:nvSpPr>
          <p:cNvPr id="18" name="Text 14"/>
          <p:cNvSpPr/>
          <p:nvPr/>
        </p:nvSpPr>
        <p:spPr>
          <a:xfrm>
            <a:off x="5897880" y="3737609"/>
            <a:ext cx="2674620" cy="548640"/>
          </a:xfrm>
          <a:prstGeom prst="rect">
            <a:avLst/>
          </a:prstGeom>
          <a:noFill/>
          <a:ln/>
        </p:spPr>
        <p:txBody>
          <a:bodyPr wrap="square" rtlCol="0" anchor="ctr"/>
          <a:lstStyle/>
          <a:p>
            <a:pPr marL="0" indent="0">
              <a:lnSpc>
                <a:spcPts val="1800"/>
              </a:lnSpc>
              <a:buNone/>
            </a:pPr>
            <a:r>
              <a:rPr lang="en-US" sz="900" b="1" dirty="0">
                <a:solidFill>
                  <a:srgbClr val="0F2A4A"/>
                </a:solidFill>
                <a:latin typeface="Calibri" pitchFamily="34" charset="0"/>
                <a:ea typeface="Calibri" pitchFamily="34" charset="-122"/>
                <a:cs typeface="Calibri" pitchFamily="34" charset="-120"/>
              </a:rPr>
              <a:t>The system does not message the member.</a:t>
            </a:r>
            <a:endParaRPr lang="en-US" sz="900" dirty="0"/>
          </a:p>
          <a:p>
            <a:pPr marL="0" indent="0">
              <a:lnSpc>
                <a:spcPts val="1800"/>
              </a:lnSpc>
              <a:buNone/>
            </a:pPr>
            <a:r>
              <a:rPr lang="en-US" sz="900" b="1" dirty="0">
                <a:solidFill>
                  <a:srgbClr val="0F2A4A"/>
                </a:solidFill>
                <a:latin typeface="Calibri" pitchFamily="34" charset="0"/>
                <a:ea typeface="Calibri" pitchFamily="34" charset="-122"/>
                <a:cs typeface="Calibri" pitchFamily="34" charset="-120"/>
              </a:rPr>
              <a:t>It reminds us.</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80059" y="640651"/>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CHURCH STRUCTURE</a:t>
            </a:r>
            <a:endParaRPr lang="en-US" sz="850" dirty="0"/>
          </a:p>
        </p:txBody>
      </p:sp>
      <p:sp>
        <p:nvSpPr>
          <p:cNvPr id="3" name="Text 1"/>
          <p:cNvSpPr/>
          <p:nvPr/>
        </p:nvSpPr>
        <p:spPr>
          <a:xfrm>
            <a:off x="480059" y="757618"/>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Departments and groups</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sp>
        <p:nvSpPr>
          <p:cNvPr id="6" name="Shape 3"/>
          <p:cNvSpPr/>
          <p:nvPr/>
        </p:nvSpPr>
        <p:spPr>
          <a:xfrm>
            <a:off x="480059" y="1440180"/>
            <a:ext cx="4032504" cy="2125979"/>
          </a:xfrm>
          <a:prstGeom prst="rect">
            <a:avLst/>
          </a:prstGeom>
          <a:solidFill>
            <a:srgbClr val="FFFFFF"/>
          </a:solidFill>
          <a:ln w="12700">
            <a:solidFill>
              <a:srgbClr val="E2E8F0"/>
            </a:solidFill>
            <a:prstDash val="solid"/>
          </a:ln>
        </p:spPr>
        <p:txBody>
          <a:bodyPr/>
          <a:lstStyle/>
          <a:p>
            <a:endParaRPr lang="en-US"/>
          </a:p>
        </p:txBody>
      </p:sp>
      <p:sp>
        <p:nvSpPr>
          <p:cNvPr id="7" name="Shape 4"/>
          <p:cNvSpPr/>
          <p:nvPr/>
        </p:nvSpPr>
        <p:spPr>
          <a:xfrm>
            <a:off x="480059" y="1440180"/>
            <a:ext cx="4032504" cy="68580"/>
          </a:xfrm>
          <a:prstGeom prst="rect">
            <a:avLst/>
          </a:prstGeom>
          <a:solidFill>
            <a:srgbClr val="B8892B"/>
          </a:solidFill>
          <a:ln w="12700">
            <a:solidFill>
              <a:srgbClr val="B8892B"/>
            </a:solidFill>
            <a:prstDash val="solid"/>
          </a:ln>
        </p:spPr>
        <p:txBody>
          <a:bodyPr/>
          <a:lstStyle/>
          <a:p>
            <a:endParaRPr lang="en-US"/>
          </a:p>
        </p:txBody>
      </p:sp>
      <p:sp>
        <p:nvSpPr>
          <p:cNvPr id="8" name="Text 5"/>
          <p:cNvSpPr/>
          <p:nvPr/>
        </p:nvSpPr>
        <p:spPr>
          <a:xfrm>
            <a:off x="720090" y="1645920"/>
            <a:ext cx="3566159" cy="308609"/>
          </a:xfrm>
          <a:prstGeom prst="rect">
            <a:avLst/>
          </a:prstGeom>
          <a:noFill/>
          <a:ln/>
        </p:spPr>
        <p:txBody>
          <a:bodyPr wrap="square" rtlCol="0" anchor="ctr"/>
          <a:lstStyle/>
          <a:p>
            <a:pPr marL="0" indent="0">
              <a:buNone/>
            </a:pPr>
            <a:r>
              <a:rPr lang="en-US" sz="1650" b="1" dirty="0">
                <a:solidFill>
                  <a:srgbClr val="0F2A4A"/>
                </a:solidFill>
                <a:latin typeface="Calibri" pitchFamily="34" charset="0"/>
                <a:ea typeface="Calibri" pitchFamily="34" charset="-122"/>
                <a:cs typeface="Calibri" pitchFamily="34" charset="-120"/>
              </a:rPr>
              <a:t>Departments</a:t>
            </a:r>
            <a:endParaRPr lang="en-US" sz="1650" dirty="0"/>
          </a:p>
        </p:txBody>
      </p:sp>
      <p:sp>
        <p:nvSpPr>
          <p:cNvPr id="9" name="Text 6"/>
          <p:cNvSpPr/>
          <p:nvPr/>
        </p:nvSpPr>
        <p:spPr>
          <a:xfrm>
            <a:off x="720090" y="1954529"/>
            <a:ext cx="3566159" cy="240029"/>
          </a:xfrm>
          <a:prstGeom prst="rect">
            <a:avLst/>
          </a:prstGeom>
          <a:noFill/>
          <a:ln/>
        </p:spPr>
        <p:txBody>
          <a:bodyPr wrap="square" rtlCol="0" anchor="ctr"/>
          <a:lstStyle/>
          <a:p>
            <a:pPr marL="0" indent="0">
              <a:buNone/>
            </a:pPr>
            <a:r>
              <a:rPr lang="en-US" sz="1000" i="1" dirty="0">
                <a:solidFill>
                  <a:srgbClr val="B8892B"/>
                </a:solidFill>
                <a:latin typeface="Calibri" pitchFamily="34" charset="0"/>
                <a:ea typeface="Calibri" pitchFamily="34" charset="-122"/>
                <a:cs typeface="Calibri" pitchFamily="34" charset="-120"/>
              </a:rPr>
              <a:t>What a member does</a:t>
            </a:r>
            <a:endParaRPr lang="en-US" sz="1000" dirty="0"/>
          </a:p>
        </p:txBody>
      </p:sp>
      <p:sp>
        <p:nvSpPr>
          <p:cNvPr id="10" name="Text 7"/>
          <p:cNvSpPr/>
          <p:nvPr/>
        </p:nvSpPr>
        <p:spPr>
          <a:xfrm>
            <a:off x="720090" y="2297429"/>
            <a:ext cx="3566159" cy="1097280"/>
          </a:xfrm>
          <a:prstGeom prst="rect">
            <a:avLst/>
          </a:prstGeom>
          <a:noFill/>
          <a:ln/>
        </p:spPr>
        <p:txBody>
          <a:bodyPr wrap="square" rtlCol="0" anchor="ctr"/>
          <a:lstStyle/>
          <a:p>
            <a:pPr marL="0" indent="0">
              <a:lnSpc>
                <a:spcPts val="2200"/>
              </a:lnSpc>
              <a:buNone/>
            </a:pPr>
            <a:r>
              <a:rPr lang="en-US" sz="1000" dirty="0">
                <a:solidFill>
                  <a:srgbClr val="0F172A"/>
                </a:solidFill>
                <a:latin typeface="Calibri" pitchFamily="34" charset="0"/>
                <a:ea typeface="Calibri" pitchFamily="34" charset="-122"/>
                <a:cs typeface="Calibri" pitchFamily="34" charset="-120"/>
              </a:rPr>
              <a:t>Choir · Ushering · Media · Youth</a:t>
            </a:r>
            <a:endParaRPr lang="en-US" sz="1000" dirty="0"/>
          </a:p>
          <a:p>
            <a:pPr marL="0" indent="0">
              <a:lnSpc>
                <a:spcPts val="2200"/>
              </a:lnSpc>
              <a:buNone/>
            </a:pPr>
            <a:r>
              <a:rPr lang="en-US" sz="1000" dirty="0">
                <a:solidFill>
                  <a:srgbClr val="0F172A"/>
                </a:solidFill>
                <a:latin typeface="Calibri" pitchFamily="34" charset="0"/>
                <a:ea typeface="Calibri" pitchFamily="34" charset="-122"/>
                <a:cs typeface="Calibri" pitchFamily="34" charset="-120"/>
              </a:rPr>
              <a:t>Children’s · Evangelism · Welfare</a:t>
            </a:r>
            <a:endParaRPr lang="en-US" sz="1000" dirty="0"/>
          </a:p>
          <a:p>
            <a:pPr marL="0" indent="0">
              <a:lnSpc>
                <a:spcPts val="2200"/>
              </a:lnSpc>
              <a:buNone/>
            </a:pPr>
            <a:r>
              <a:rPr lang="en-US" sz="1000" dirty="0">
                <a:solidFill>
                  <a:srgbClr val="0F172A"/>
                </a:solidFill>
                <a:latin typeface="Calibri" pitchFamily="34" charset="0"/>
                <a:ea typeface="Calibri" pitchFamily="34" charset="-122"/>
                <a:cs typeface="Calibri" pitchFamily="34" charset="-120"/>
              </a:rPr>
              <a:t>Protocol · Men’s · Women’s · Technical</a:t>
            </a:r>
            <a:endParaRPr lang="en-US" sz="1000" dirty="0"/>
          </a:p>
        </p:txBody>
      </p:sp>
      <p:sp>
        <p:nvSpPr>
          <p:cNvPr id="11" name="Shape 8"/>
          <p:cNvSpPr/>
          <p:nvPr/>
        </p:nvSpPr>
        <p:spPr>
          <a:xfrm>
            <a:off x="4629150" y="1440180"/>
            <a:ext cx="4032504" cy="2125979"/>
          </a:xfrm>
          <a:prstGeom prst="rect">
            <a:avLst/>
          </a:prstGeom>
          <a:solidFill>
            <a:srgbClr val="FFFFFF"/>
          </a:solidFill>
          <a:ln w="12700">
            <a:solidFill>
              <a:srgbClr val="E2E8F0"/>
            </a:solidFill>
            <a:prstDash val="solid"/>
          </a:ln>
        </p:spPr>
        <p:txBody>
          <a:bodyPr/>
          <a:lstStyle/>
          <a:p>
            <a:endParaRPr lang="en-US"/>
          </a:p>
        </p:txBody>
      </p:sp>
      <p:sp>
        <p:nvSpPr>
          <p:cNvPr id="12" name="Shape 9"/>
          <p:cNvSpPr/>
          <p:nvPr/>
        </p:nvSpPr>
        <p:spPr>
          <a:xfrm>
            <a:off x="4629150" y="1440180"/>
            <a:ext cx="4032504" cy="68580"/>
          </a:xfrm>
          <a:prstGeom prst="rect">
            <a:avLst/>
          </a:prstGeom>
          <a:solidFill>
            <a:srgbClr val="B8892B"/>
          </a:solidFill>
          <a:ln w="12700">
            <a:solidFill>
              <a:srgbClr val="B8892B"/>
            </a:solidFill>
            <a:prstDash val="solid"/>
          </a:ln>
        </p:spPr>
        <p:txBody>
          <a:bodyPr/>
          <a:lstStyle/>
          <a:p>
            <a:endParaRPr lang="en-US"/>
          </a:p>
        </p:txBody>
      </p:sp>
      <p:sp>
        <p:nvSpPr>
          <p:cNvPr id="13" name="Text 10"/>
          <p:cNvSpPr/>
          <p:nvPr/>
        </p:nvSpPr>
        <p:spPr>
          <a:xfrm>
            <a:off x="4869180" y="1645920"/>
            <a:ext cx="3566159" cy="308609"/>
          </a:xfrm>
          <a:prstGeom prst="rect">
            <a:avLst/>
          </a:prstGeom>
          <a:noFill/>
          <a:ln/>
        </p:spPr>
        <p:txBody>
          <a:bodyPr wrap="square" rtlCol="0" anchor="ctr"/>
          <a:lstStyle/>
          <a:p>
            <a:pPr marL="0" indent="0">
              <a:buNone/>
            </a:pPr>
            <a:r>
              <a:rPr lang="en-US" sz="1650" b="1" dirty="0">
                <a:solidFill>
                  <a:srgbClr val="0F2A4A"/>
                </a:solidFill>
                <a:latin typeface="Calibri" pitchFamily="34" charset="0"/>
                <a:ea typeface="Calibri" pitchFamily="34" charset="-122"/>
                <a:cs typeface="Calibri" pitchFamily="34" charset="-120"/>
              </a:rPr>
              <a:t>Groups</a:t>
            </a:r>
            <a:endParaRPr lang="en-US" sz="1650" dirty="0"/>
          </a:p>
        </p:txBody>
      </p:sp>
      <p:sp>
        <p:nvSpPr>
          <p:cNvPr id="14" name="Text 11"/>
          <p:cNvSpPr/>
          <p:nvPr/>
        </p:nvSpPr>
        <p:spPr>
          <a:xfrm>
            <a:off x="4869180" y="1954529"/>
            <a:ext cx="3566159" cy="240029"/>
          </a:xfrm>
          <a:prstGeom prst="rect">
            <a:avLst/>
          </a:prstGeom>
          <a:noFill/>
          <a:ln/>
        </p:spPr>
        <p:txBody>
          <a:bodyPr wrap="square" rtlCol="0" anchor="ctr"/>
          <a:lstStyle/>
          <a:p>
            <a:pPr marL="0" indent="0">
              <a:buNone/>
            </a:pPr>
            <a:r>
              <a:rPr lang="en-US" sz="1000" i="1" dirty="0">
                <a:solidFill>
                  <a:srgbClr val="B8892B"/>
                </a:solidFill>
                <a:latin typeface="Calibri" pitchFamily="34" charset="0"/>
                <a:ea typeface="Calibri" pitchFamily="34" charset="-122"/>
                <a:cs typeface="Calibri" pitchFamily="34" charset="-120"/>
              </a:rPr>
              <a:t>Where a member belongs</a:t>
            </a:r>
            <a:endParaRPr lang="en-US" sz="1000" dirty="0"/>
          </a:p>
        </p:txBody>
      </p:sp>
      <p:sp>
        <p:nvSpPr>
          <p:cNvPr id="15" name="Text 12"/>
          <p:cNvSpPr/>
          <p:nvPr/>
        </p:nvSpPr>
        <p:spPr>
          <a:xfrm>
            <a:off x="4869180" y="2297429"/>
            <a:ext cx="3566159" cy="1097280"/>
          </a:xfrm>
          <a:prstGeom prst="rect">
            <a:avLst/>
          </a:prstGeom>
          <a:noFill/>
          <a:ln/>
        </p:spPr>
        <p:txBody>
          <a:bodyPr wrap="square" rtlCol="0" anchor="ctr"/>
          <a:lstStyle/>
          <a:p>
            <a:pPr marL="0" indent="0">
              <a:lnSpc>
                <a:spcPts val="2200"/>
              </a:lnSpc>
              <a:buNone/>
            </a:pPr>
            <a:r>
              <a:rPr lang="en-US" sz="1000" dirty="0">
                <a:solidFill>
                  <a:srgbClr val="0F172A"/>
                </a:solidFill>
                <a:latin typeface="Calibri" pitchFamily="34" charset="0"/>
                <a:ea typeface="Calibri" pitchFamily="34" charset="-122"/>
                <a:cs typeface="Calibri" pitchFamily="34" charset="-120"/>
              </a:rPr>
              <a:t>Cell groups · Prayer groups</a:t>
            </a:r>
            <a:endParaRPr lang="en-US" sz="1000" dirty="0"/>
          </a:p>
          <a:p>
            <a:pPr marL="0" indent="0">
              <a:lnSpc>
                <a:spcPts val="2200"/>
              </a:lnSpc>
              <a:buNone/>
            </a:pPr>
            <a:r>
              <a:rPr lang="en-US" sz="1000" dirty="0">
                <a:solidFill>
                  <a:srgbClr val="0F172A"/>
                </a:solidFill>
                <a:latin typeface="Calibri" pitchFamily="34" charset="0"/>
                <a:ea typeface="Calibri" pitchFamily="34" charset="-122"/>
                <a:cs typeface="Calibri" pitchFamily="34" charset="-120"/>
              </a:rPr>
              <a:t>Bible study groups</a:t>
            </a:r>
            <a:endParaRPr lang="en-US" sz="1000" dirty="0"/>
          </a:p>
          <a:p>
            <a:pPr marL="0" indent="0">
              <a:lnSpc>
                <a:spcPts val="2200"/>
              </a:lnSpc>
              <a:buNone/>
            </a:pPr>
            <a:r>
              <a:rPr lang="en-US" sz="1000" dirty="0">
                <a:solidFill>
                  <a:srgbClr val="0F172A"/>
                </a:solidFill>
                <a:latin typeface="Calibri" pitchFamily="34" charset="0"/>
                <a:ea typeface="Calibri" pitchFamily="34" charset="-122"/>
                <a:cs typeface="Calibri" pitchFamily="34" charset="-120"/>
              </a:rPr>
              <a:t>Zones · Fellowships</a:t>
            </a:r>
            <a:endParaRPr lang="en-US" sz="1000" dirty="0"/>
          </a:p>
        </p:txBody>
      </p:sp>
      <p:sp>
        <p:nvSpPr>
          <p:cNvPr id="16" name="Text 13"/>
          <p:cNvSpPr/>
          <p:nvPr/>
        </p:nvSpPr>
        <p:spPr>
          <a:xfrm>
            <a:off x="480059" y="3737609"/>
            <a:ext cx="8161019" cy="274320"/>
          </a:xfrm>
          <a:prstGeom prst="rect">
            <a:avLst/>
          </a:prstGeom>
          <a:noFill/>
          <a:ln/>
        </p:spPr>
        <p:txBody>
          <a:bodyPr wrap="square" rtlCol="0" anchor="ctr"/>
          <a:lstStyle/>
          <a:p>
            <a:pPr marL="0" indent="0">
              <a:buNone/>
            </a:pPr>
            <a:r>
              <a:rPr lang="en-US" sz="1050" dirty="0">
                <a:solidFill>
                  <a:srgbClr val="64748B"/>
                </a:solidFill>
                <a:latin typeface="Calibri" pitchFamily="34" charset="0"/>
                <a:ea typeface="Calibri" pitchFamily="34" charset="-122"/>
                <a:cs typeface="Calibri" pitchFamily="34" charset="-120"/>
              </a:rPr>
              <a:t>Each has a leader, a meeting day and time, its own roster and its own attendance figures.</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80059" y="620648"/>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REPORTING</a:t>
            </a:r>
            <a:endParaRPr lang="en-US" sz="850" dirty="0"/>
          </a:p>
        </p:txBody>
      </p:sp>
      <p:sp>
        <p:nvSpPr>
          <p:cNvPr id="3" name="Text 1"/>
          <p:cNvSpPr/>
          <p:nvPr/>
        </p:nvSpPr>
        <p:spPr>
          <a:xfrm>
            <a:off x="480059" y="716660"/>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Ten reports, ready in seconds</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graphicFrame>
        <p:nvGraphicFramePr>
          <p:cNvPr id="16" name="Table 0"/>
          <p:cNvGraphicFramePr>
            <a:graphicFrameLocks noGrp="1"/>
          </p:cNvGraphicFramePr>
          <p:nvPr>
            <p:extLst>
              <p:ext uri="{D42A27DB-BD31-4B8C-83A1-F6EECF244321}">
                <p14:modId xmlns:p14="http://schemas.microsoft.com/office/powerpoint/2010/main" val="2331468911"/>
              </p:ext>
            </p:extLst>
          </p:nvPr>
        </p:nvGraphicFramePr>
        <p:xfrm>
          <a:off x="480059" y="1440180"/>
          <a:ext cx="8181594" cy="1947672"/>
        </p:xfrm>
        <a:graphic>
          <a:graphicData uri="http://schemas.openxmlformats.org/drawingml/2006/table">
            <a:tbl>
              <a:tblPr/>
              <a:tblGrid>
                <a:gridCol w="4090797">
                  <a:extLst>
                    <a:ext uri="{9D8B030D-6E8A-4147-A177-3AD203B41FA5}">
                      <a16:colId xmlns:a16="http://schemas.microsoft.com/office/drawing/2014/main" val="20000"/>
                    </a:ext>
                  </a:extLst>
                </a:gridCol>
                <a:gridCol w="4090797">
                  <a:extLst>
                    <a:ext uri="{9D8B030D-6E8A-4147-A177-3AD203B41FA5}">
                      <a16:colId xmlns:a16="http://schemas.microsoft.com/office/drawing/2014/main" val="20001"/>
                    </a:ext>
                  </a:extLst>
                </a:gridCol>
              </a:tblGrid>
              <a:tr h="19050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Membership</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A4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Attendance &amp; care</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A4A"/>
                    </a:solidFill>
                  </a:tcPr>
                </a:tc>
                <a:extLst>
                  <a:ext uri="{0D108BD9-81ED-4DB2-BD59-A6C34878D82A}">
                    <a16:rowId xmlns:a16="http://schemas.microsoft.com/office/drawing/2014/main" val="10000"/>
                  </a:ext>
                </a:extLst>
              </a:tr>
              <a:tr h="190500">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Membership summary</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Attendance by service</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90500">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New members</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Attendance by department</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190500">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Members by department</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Members with low attendance</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90500">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Members by age group</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Absentee register</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190500">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Birthday register</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Follow-up register</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Shape 3"/>
          <p:cNvSpPr/>
          <p:nvPr/>
        </p:nvSpPr>
        <p:spPr>
          <a:xfrm>
            <a:off x="480059" y="3669029"/>
            <a:ext cx="1508760" cy="342900"/>
          </a:xfrm>
          <a:prstGeom prst="roundRect">
            <a:avLst>
              <a:gd name="adj" fmla="val 12000"/>
            </a:avLst>
          </a:prstGeom>
          <a:solidFill>
            <a:srgbClr val="0F2A4A"/>
          </a:solidFill>
          <a:ln w="12700">
            <a:solidFill>
              <a:srgbClr val="0F2A4A"/>
            </a:solidFill>
            <a:prstDash val="solid"/>
          </a:ln>
        </p:spPr>
        <p:txBody>
          <a:bodyPr/>
          <a:lstStyle/>
          <a:p>
            <a:endParaRPr lang="en-US"/>
          </a:p>
        </p:txBody>
      </p:sp>
      <p:sp>
        <p:nvSpPr>
          <p:cNvPr id="8" name="Text 4"/>
          <p:cNvSpPr/>
          <p:nvPr/>
        </p:nvSpPr>
        <p:spPr>
          <a:xfrm>
            <a:off x="480059" y="3669029"/>
            <a:ext cx="1508760" cy="3429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Export to Excel</a:t>
            </a:r>
            <a:endParaRPr lang="en-US" sz="900" dirty="0"/>
          </a:p>
        </p:txBody>
      </p:sp>
      <p:sp>
        <p:nvSpPr>
          <p:cNvPr id="9" name="Shape 5"/>
          <p:cNvSpPr/>
          <p:nvPr/>
        </p:nvSpPr>
        <p:spPr>
          <a:xfrm>
            <a:off x="2125979" y="3669029"/>
            <a:ext cx="1508760" cy="342900"/>
          </a:xfrm>
          <a:prstGeom prst="roundRect">
            <a:avLst>
              <a:gd name="adj" fmla="val 12000"/>
            </a:avLst>
          </a:prstGeom>
          <a:solidFill>
            <a:srgbClr val="0F2A4A"/>
          </a:solidFill>
          <a:ln w="12700">
            <a:solidFill>
              <a:srgbClr val="0F2A4A"/>
            </a:solidFill>
            <a:prstDash val="solid"/>
          </a:ln>
        </p:spPr>
        <p:txBody>
          <a:bodyPr/>
          <a:lstStyle/>
          <a:p>
            <a:endParaRPr lang="en-US"/>
          </a:p>
        </p:txBody>
      </p:sp>
      <p:sp>
        <p:nvSpPr>
          <p:cNvPr id="10" name="Text 6"/>
          <p:cNvSpPr/>
          <p:nvPr/>
        </p:nvSpPr>
        <p:spPr>
          <a:xfrm>
            <a:off x="2125979" y="3669029"/>
            <a:ext cx="1508760" cy="3429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Export to PDF</a:t>
            </a:r>
            <a:endParaRPr lang="en-US" sz="900" dirty="0"/>
          </a:p>
        </p:txBody>
      </p:sp>
      <p:sp>
        <p:nvSpPr>
          <p:cNvPr id="11" name="Shape 7"/>
          <p:cNvSpPr/>
          <p:nvPr/>
        </p:nvSpPr>
        <p:spPr>
          <a:xfrm>
            <a:off x="3771900" y="3669029"/>
            <a:ext cx="1508760" cy="342900"/>
          </a:xfrm>
          <a:prstGeom prst="roundRect">
            <a:avLst>
              <a:gd name="adj" fmla="val 12000"/>
            </a:avLst>
          </a:prstGeom>
          <a:solidFill>
            <a:srgbClr val="0F2A4A"/>
          </a:solidFill>
          <a:ln w="12700">
            <a:solidFill>
              <a:srgbClr val="0F2A4A"/>
            </a:solidFill>
            <a:prstDash val="solid"/>
          </a:ln>
        </p:spPr>
        <p:txBody>
          <a:bodyPr/>
          <a:lstStyle/>
          <a:p>
            <a:endParaRPr lang="en-US"/>
          </a:p>
        </p:txBody>
      </p:sp>
      <p:sp>
        <p:nvSpPr>
          <p:cNvPr id="12" name="Text 8"/>
          <p:cNvSpPr/>
          <p:nvPr/>
        </p:nvSpPr>
        <p:spPr>
          <a:xfrm>
            <a:off x="3771900" y="3669029"/>
            <a:ext cx="1508760" cy="342900"/>
          </a:xfrm>
          <a:prstGeom prst="rect">
            <a:avLst/>
          </a:prstGeom>
          <a:noFill/>
          <a:ln/>
        </p:spPr>
        <p:txBody>
          <a:bodyPr wrap="square"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Print</a:t>
            </a:r>
            <a:endParaRPr lang="en-US" sz="900" dirty="0"/>
          </a:p>
        </p:txBody>
      </p:sp>
      <p:sp>
        <p:nvSpPr>
          <p:cNvPr id="13" name="Text 9"/>
          <p:cNvSpPr/>
          <p:nvPr/>
        </p:nvSpPr>
        <p:spPr>
          <a:xfrm>
            <a:off x="480059" y="4183379"/>
            <a:ext cx="8161019" cy="240029"/>
          </a:xfrm>
          <a:prstGeom prst="rect">
            <a:avLst/>
          </a:prstGeom>
          <a:noFill/>
          <a:ln/>
        </p:spPr>
        <p:txBody>
          <a:bodyPr wrap="square" rtlCol="0" anchor="ctr"/>
          <a:lstStyle/>
          <a:p>
            <a:pPr marL="0" indent="0">
              <a:buNone/>
            </a:pPr>
            <a:r>
              <a:rPr lang="en-US" sz="900" i="1" dirty="0">
                <a:solidFill>
                  <a:srgbClr val="64748B"/>
                </a:solidFill>
                <a:latin typeface="Calibri" pitchFamily="34" charset="0"/>
                <a:ea typeface="Calibri" pitchFamily="34" charset="-122"/>
                <a:cs typeface="Calibri" pitchFamily="34" charset="-120"/>
              </a:rPr>
              <a:t>Every report carries the church name and the date it was produced.</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80059" y="634366"/>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ACCESS AND ROLES</a:t>
            </a:r>
            <a:endParaRPr lang="en-US" sz="850" dirty="0"/>
          </a:p>
        </p:txBody>
      </p:sp>
      <p:sp>
        <p:nvSpPr>
          <p:cNvPr id="3" name="Text 1"/>
          <p:cNvSpPr/>
          <p:nvPr/>
        </p:nvSpPr>
        <p:spPr>
          <a:xfrm>
            <a:off x="480059" y="730378"/>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Who sees what</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graphicFrame>
        <p:nvGraphicFramePr>
          <p:cNvPr id="17" name="Table 0"/>
          <p:cNvGraphicFramePr>
            <a:graphicFrameLocks noGrp="1"/>
          </p:cNvGraphicFramePr>
          <p:nvPr>
            <p:extLst>
              <p:ext uri="{D42A27DB-BD31-4B8C-83A1-F6EECF244321}">
                <p14:modId xmlns:p14="http://schemas.microsoft.com/office/powerpoint/2010/main" val="55597416"/>
              </p:ext>
            </p:extLst>
          </p:nvPr>
        </p:nvGraphicFramePr>
        <p:xfrm>
          <a:off x="480059" y="1440180"/>
          <a:ext cx="8181594" cy="1947672"/>
        </p:xfrm>
        <a:graphic>
          <a:graphicData uri="http://schemas.openxmlformats.org/drawingml/2006/table">
            <a:tbl>
              <a:tblPr/>
              <a:tblGrid>
                <a:gridCol w="2743200">
                  <a:extLst>
                    <a:ext uri="{9D8B030D-6E8A-4147-A177-3AD203B41FA5}">
                      <a16:colId xmlns:a16="http://schemas.microsoft.com/office/drawing/2014/main" val="20000"/>
                    </a:ext>
                  </a:extLst>
                </a:gridCol>
                <a:gridCol w="5438394">
                  <a:extLst>
                    <a:ext uri="{9D8B030D-6E8A-4147-A177-3AD203B41FA5}">
                      <a16:colId xmlns:a16="http://schemas.microsoft.com/office/drawing/2014/main" val="20001"/>
                    </a:ext>
                  </a:extLst>
                </a:gridCol>
              </a:tblGrid>
              <a:tr h="21590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Role</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A4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Access</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A4A"/>
                    </a:solidFill>
                  </a:tcPr>
                </a:tc>
                <a:extLst>
                  <a:ext uri="{0D108BD9-81ED-4DB2-BD59-A6C34878D82A}">
                    <a16:rowId xmlns:a16="http://schemas.microsoft.com/office/drawing/2014/main" val="10000"/>
                  </a:ext>
                </a:extLst>
              </a:tr>
              <a:tr h="215900">
                <a:tc>
                  <a:txBody>
                    <a:bodyPr/>
                    <a:lstStyle/>
                    <a:p>
                      <a:pPr marL="0" indent="0">
                        <a:buNone/>
                      </a:pPr>
                      <a:r>
                        <a:rPr lang="en-US" sz="1000" b="1" dirty="0">
                          <a:solidFill>
                            <a:srgbClr val="0F172A"/>
                          </a:solidFill>
                          <a:latin typeface="Calibri" pitchFamily="34" charset="0"/>
                          <a:ea typeface="Calibri" pitchFamily="34" charset="-122"/>
                          <a:cs typeface="Calibri" pitchFamily="34" charset="-120"/>
                        </a:rPr>
                        <a:t>Super Administrator</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Everything, including user accounts and settings</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5900">
                <a:tc>
                  <a:txBody>
                    <a:bodyPr/>
                    <a:lstStyle/>
                    <a:p>
                      <a:pPr marL="0" indent="0">
                        <a:buNone/>
                      </a:pPr>
                      <a:r>
                        <a:rPr lang="en-US" sz="1000" b="1" dirty="0">
                          <a:solidFill>
                            <a:srgbClr val="0F172A"/>
                          </a:solidFill>
                          <a:latin typeface="Calibri" pitchFamily="34" charset="0"/>
                          <a:ea typeface="Calibri" pitchFamily="34" charset="-122"/>
                          <a:cs typeface="Calibri" pitchFamily="34" charset="-120"/>
                        </a:rPr>
                        <a:t>Pastor</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Full visibility of members, attendance, alerts and reports; manages follow-ups</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215900">
                <a:tc>
                  <a:txBody>
                    <a:bodyPr/>
                    <a:lstStyle/>
                    <a:p>
                      <a:pPr marL="0" indent="0">
                        <a:buNone/>
                      </a:pPr>
                      <a:r>
                        <a:rPr lang="en-US" sz="1000" b="1" dirty="0">
                          <a:solidFill>
                            <a:srgbClr val="0F172A"/>
                          </a:solidFill>
                          <a:latin typeface="Calibri" pitchFamily="34" charset="0"/>
                          <a:ea typeface="Calibri" pitchFamily="34" charset="-122"/>
                          <a:cs typeface="Calibri" pitchFamily="34" charset="-120"/>
                        </a:rPr>
                        <a:t>Church Administrator</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Registers members, records attendance, manages departments and groups</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15900">
                <a:tc>
                  <a:txBody>
                    <a:bodyPr/>
                    <a:lstStyle/>
                    <a:p>
                      <a:pPr marL="0" indent="0">
                        <a:buNone/>
                      </a:pPr>
                      <a:r>
                        <a:rPr lang="en-US" sz="1000" b="1" dirty="0">
                          <a:solidFill>
                            <a:srgbClr val="0F172A"/>
                          </a:solidFill>
                          <a:latin typeface="Calibri" pitchFamily="34" charset="0"/>
                          <a:ea typeface="Calibri" pitchFamily="34" charset="-122"/>
                          <a:cs typeface="Calibri" pitchFamily="34" charset="-120"/>
                        </a:rPr>
                        <a:t>Department Leader</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buNone/>
                      </a:pPr>
                      <a:r>
                        <a:rPr lang="en-US" sz="1000" b="1" dirty="0">
                          <a:solidFill>
                            <a:srgbClr val="D03B3B"/>
                          </a:solidFill>
                          <a:latin typeface="Calibri" pitchFamily="34" charset="0"/>
                          <a:ea typeface="Calibri" pitchFamily="34" charset="-122"/>
                          <a:cs typeface="Calibri" pitchFamily="34" charset="-120"/>
                        </a:rPr>
                        <a:t>Their own department only</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215900">
                <a:tc>
                  <a:txBody>
                    <a:bodyPr/>
                    <a:lstStyle/>
                    <a:p>
                      <a:pPr marL="0" indent="0">
                        <a:buNone/>
                      </a:pPr>
                      <a:r>
                        <a:rPr lang="en-US" sz="1000" b="1" dirty="0">
                          <a:solidFill>
                            <a:srgbClr val="0F172A"/>
                          </a:solidFill>
                          <a:latin typeface="Calibri" pitchFamily="34" charset="0"/>
                          <a:ea typeface="Calibri" pitchFamily="34" charset="-122"/>
                          <a:cs typeface="Calibri" pitchFamily="34" charset="-120"/>
                        </a:rPr>
                        <a:t>Viewer</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Read-only</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7" name="Text 3"/>
          <p:cNvSpPr/>
          <p:nvPr/>
        </p:nvSpPr>
        <p:spPr>
          <a:xfrm>
            <a:off x="480059" y="3840479"/>
            <a:ext cx="8161019" cy="274320"/>
          </a:xfrm>
          <a:prstGeom prst="rect">
            <a:avLst/>
          </a:prstGeom>
          <a:noFill/>
          <a:ln/>
        </p:spPr>
        <p:txBody>
          <a:bodyPr wrap="square" rtlCol="0" anchor="ctr"/>
          <a:lstStyle/>
          <a:p>
            <a:pPr marL="0" indent="0">
              <a:buNone/>
            </a:pPr>
            <a:r>
              <a:rPr lang="en-US" sz="1050" b="1" dirty="0">
                <a:solidFill>
                  <a:srgbClr val="0F2A4A"/>
                </a:solidFill>
                <a:latin typeface="Calibri" pitchFamily="34" charset="0"/>
                <a:ea typeface="Calibri" pitchFamily="34" charset="-122"/>
                <a:cs typeface="Calibri" pitchFamily="34" charset="-120"/>
              </a:rPr>
              <a:t>Access is enforced by the system — not by trust, and not by hiding menus.</a:t>
            </a:r>
            <a:endParaRPr lang="en-US" sz="10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80059" y="593216"/>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PRIVACY AND TRUST</a:t>
            </a:r>
            <a:endParaRPr lang="en-US" sz="850" dirty="0"/>
          </a:p>
        </p:txBody>
      </p:sp>
      <p:sp>
        <p:nvSpPr>
          <p:cNvPr id="3" name="Text 1"/>
          <p:cNvSpPr/>
          <p:nvPr/>
        </p:nvSpPr>
        <p:spPr>
          <a:xfrm>
            <a:off x="480059" y="689228"/>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Protecting our members’ information</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sp>
        <p:nvSpPr>
          <p:cNvPr id="6" name="Text 3"/>
          <p:cNvSpPr/>
          <p:nvPr/>
        </p:nvSpPr>
        <p:spPr>
          <a:xfrm>
            <a:off x="651510" y="1440180"/>
            <a:ext cx="7886700" cy="3017520"/>
          </a:xfrm>
          <a:prstGeom prst="rect">
            <a:avLst/>
          </a:prstGeom>
          <a:noFill/>
          <a:ln/>
        </p:spPr>
        <p:txBody>
          <a:bodyPr wrap="square" rtlCol="0" anchor="t"/>
          <a:lstStyle/>
          <a:p>
            <a:pPr marL="342900" indent="-342900">
              <a:spcAft>
                <a:spcPts val="1500"/>
              </a:spcAft>
              <a:buSzPct val="100000"/>
              <a:buChar char="•"/>
            </a:pPr>
            <a:r>
              <a:rPr lang="en-US" sz="1300" dirty="0">
                <a:solidFill>
                  <a:srgbClr val="0F172A"/>
                </a:solidFill>
                <a:latin typeface="Calibri" pitchFamily="34" charset="0"/>
                <a:ea typeface="Calibri" pitchFamily="34" charset="-122"/>
                <a:cs typeface="Calibri" pitchFamily="34" charset="-120"/>
              </a:rPr>
              <a:t>Every person signs in with their own account</a:t>
            </a:r>
            <a:endParaRPr lang="en-US" sz="1300" dirty="0"/>
          </a:p>
          <a:p>
            <a:pPr marL="342900" indent="-342900">
              <a:spcAft>
                <a:spcPts val="1500"/>
              </a:spcAft>
              <a:buSzPct val="100000"/>
              <a:buChar char="•"/>
            </a:pPr>
            <a:r>
              <a:rPr lang="en-US" sz="1300" dirty="0">
                <a:solidFill>
                  <a:srgbClr val="0F172A"/>
                </a:solidFill>
                <a:latin typeface="Calibri" pitchFamily="34" charset="0"/>
                <a:ea typeface="Calibri" pitchFamily="34" charset="-122"/>
                <a:cs typeface="Calibri" pitchFamily="34" charset="-120"/>
              </a:rPr>
              <a:t>Passwords are stored so that even we cannot read them</a:t>
            </a:r>
            <a:endParaRPr lang="en-US" sz="1300" dirty="0"/>
          </a:p>
          <a:p>
            <a:pPr marL="342900" indent="-342900">
              <a:spcAft>
                <a:spcPts val="1500"/>
              </a:spcAft>
              <a:buSzPct val="100000"/>
              <a:buChar char="•"/>
            </a:pPr>
            <a:r>
              <a:rPr lang="en-US" sz="1300" dirty="0">
                <a:solidFill>
                  <a:srgbClr val="0F172A"/>
                </a:solidFill>
                <a:latin typeface="Calibri" pitchFamily="34" charset="0"/>
                <a:ea typeface="Calibri" pitchFamily="34" charset="-122"/>
                <a:cs typeface="Calibri" pitchFamily="34" charset="-120"/>
              </a:rPr>
              <a:t>Access is limited by role</a:t>
            </a:r>
            <a:endParaRPr lang="en-US" sz="1300" dirty="0"/>
          </a:p>
          <a:p>
            <a:pPr marL="342900" indent="-342900">
              <a:spcAft>
                <a:spcPts val="1500"/>
              </a:spcAft>
              <a:buSzPct val="100000"/>
              <a:buChar char="•"/>
            </a:pPr>
            <a:r>
              <a:rPr lang="en-US" sz="1300" b="1" dirty="0">
                <a:solidFill>
                  <a:srgbClr val="B8892B"/>
                </a:solidFill>
                <a:latin typeface="Calibri" pitchFamily="34" charset="0"/>
                <a:ea typeface="Calibri" pitchFamily="34" charset="-122"/>
                <a:cs typeface="Calibri" pitchFamily="34" charset="-120"/>
              </a:rPr>
              <a:t>Every action is recorded — who did what, and when</a:t>
            </a:r>
            <a:endParaRPr lang="en-US" sz="1300" dirty="0"/>
          </a:p>
          <a:p>
            <a:pPr marL="342900" indent="-342900">
              <a:spcAft>
                <a:spcPts val="1500"/>
              </a:spcAft>
              <a:buSzPct val="100000"/>
              <a:buChar char="•"/>
            </a:pPr>
            <a:r>
              <a:rPr lang="en-US" sz="1300" dirty="0">
                <a:solidFill>
                  <a:srgbClr val="0F172A"/>
                </a:solidFill>
                <a:latin typeface="Calibri" pitchFamily="34" charset="0"/>
                <a:ea typeface="Calibri" pitchFamily="34" charset="-122"/>
                <a:cs typeface="Calibri" pitchFamily="34" charset="-120"/>
              </a:rPr>
              <a:t>Photographs are visible only to signed-in church workers</a:t>
            </a:r>
            <a:endParaRPr lang="en-US" sz="1300" dirty="0"/>
          </a:p>
        </p:txBody>
      </p:sp>
      <p:sp>
        <p:nvSpPr>
          <p:cNvPr id="7" name="Shape 4"/>
          <p:cNvSpPr/>
          <p:nvPr/>
        </p:nvSpPr>
        <p:spPr>
          <a:xfrm>
            <a:off x="480059" y="3497579"/>
            <a:ext cx="8181594" cy="754380"/>
          </a:xfrm>
          <a:prstGeom prst="rect">
            <a:avLst/>
          </a:prstGeom>
          <a:solidFill>
            <a:srgbClr val="EEF2F7"/>
          </a:solidFill>
          <a:ln w="12700">
            <a:solidFill>
              <a:srgbClr val="EEF2F7"/>
            </a:solidFill>
            <a:prstDash val="solid"/>
          </a:ln>
        </p:spPr>
        <p:txBody>
          <a:bodyPr/>
          <a:lstStyle/>
          <a:p>
            <a:endParaRPr lang="en-US"/>
          </a:p>
        </p:txBody>
      </p:sp>
      <p:sp>
        <p:nvSpPr>
          <p:cNvPr id="8" name="Text 5"/>
          <p:cNvSpPr/>
          <p:nvPr/>
        </p:nvSpPr>
        <p:spPr>
          <a:xfrm>
            <a:off x="685800" y="3703320"/>
            <a:ext cx="7749540" cy="342900"/>
          </a:xfrm>
          <a:prstGeom prst="rect">
            <a:avLst/>
          </a:prstGeom>
          <a:noFill/>
          <a:ln/>
        </p:spPr>
        <p:txBody>
          <a:bodyPr wrap="square" rtlCol="0" anchor="ctr"/>
          <a:lstStyle/>
          <a:p>
            <a:pPr marL="0" indent="0">
              <a:buNone/>
            </a:pPr>
            <a:r>
              <a:rPr lang="en-US" sz="1050" dirty="0">
                <a:solidFill>
                  <a:srgbClr val="0F2A4A"/>
                </a:solidFill>
                <a:latin typeface="Calibri" pitchFamily="34" charset="0"/>
                <a:ea typeface="Calibri" pitchFamily="34" charset="-122"/>
                <a:cs typeface="Calibri" pitchFamily="34" charset="-120"/>
              </a:rPr>
              <a:t>Before going live we will confirm our handling meets Ghana’s Data Protection Act, 2012 (Act 843).</a:t>
            </a:r>
            <a:endParaRPr lang="en-US" sz="10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80059" y="587502"/>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THE SYSTEM IS ONLINE TODAY</a:t>
            </a:r>
            <a:endParaRPr lang="en-US" sz="850" dirty="0"/>
          </a:p>
        </p:txBody>
      </p:sp>
      <p:sp>
        <p:nvSpPr>
          <p:cNvPr id="3" name="Text 1"/>
          <p:cNvSpPr/>
          <p:nvPr/>
        </p:nvSpPr>
        <p:spPr>
          <a:xfrm>
            <a:off x="480059" y="694182"/>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Where our data lives</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sp>
        <p:nvSpPr>
          <p:cNvPr id="6" name="Shape 3"/>
          <p:cNvSpPr/>
          <p:nvPr/>
        </p:nvSpPr>
        <p:spPr>
          <a:xfrm>
            <a:off x="480059" y="1371600"/>
            <a:ext cx="2640329" cy="2194560"/>
          </a:xfrm>
          <a:prstGeom prst="roundRect">
            <a:avLst>
              <a:gd name="adj" fmla="val 3750"/>
            </a:avLst>
          </a:prstGeom>
          <a:solidFill>
            <a:srgbClr val="FFFFFF"/>
          </a:solidFill>
          <a:ln w="12700">
            <a:solidFill>
              <a:srgbClr val="E2E8F0"/>
            </a:solidFill>
            <a:prstDash val="solid"/>
          </a:ln>
        </p:spPr>
        <p:txBody>
          <a:bodyPr/>
          <a:lstStyle/>
          <a:p>
            <a:endParaRPr lang="en-US"/>
          </a:p>
        </p:txBody>
      </p:sp>
      <p:sp>
        <p:nvSpPr>
          <p:cNvPr id="7" name="Shape 4"/>
          <p:cNvSpPr/>
          <p:nvPr/>
        </p:nvSpPr>
        <p:spPr>
          <a:xfrm>
            <a:off x="685800" y="1577339"/>
            <a:ext cx="377190" cy="377190"/>
          </a:xfrm>
          <a:prstGeom prst="ellipse">
            <a:avLst/>
          </a:prstGeom>
          <a:solidFill>
            <a:srgbClr val="0F2A4A"/>
          </a:solidFill>
          <a:ln w="12700">
            <a:solidFill>
              <a:srgbClr val="0F2A4A"/>
            </a:solidFill>
            <a:prstDash val="solid"/>
          </a:ln>
        </p:spPr>
        <p:txBody>
          <a:bodyPr/>
          <a:lstStyle/>
          <a:p>
            <a:endParaRPr lang="en-US"/>
          </a:p>
        </p:txBody>
      </p:sp>
      <p:sp>
        <p:nvSpPr>
          <p:cNvPr id="8" name="Text 5"/>
          <p:cNvSpPr/>
          <p:nvPr/>
        </p:nvSpPr>
        <p:spPr>
          <a:xfrm>
            <a:off x="685800" y="1577339"/>
            <a:ext cx="377190" cy="37719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9" name="Text 6"/>
          <p:cNvSpPr/>
          <p:nvPr/>
        </p:nvSpPr>
        <p:spPr>
          <a:xfrm>
            <a:off x="685800" y="2091689"/>
            <a:ext cx="2228850" cy="274320"/>
          </a:xfrm>
          <a:prstGeom prst="rect">
            <a:avLst/>
          </a:prstGeom>
          <a:noFill/>
          <a:ln/>
        </p:spPr>
        <p:txBody>
          <a:bodyPr wrap="square" lIns="0" tIns="0" rIns="0" bIns="0" rtlCol="0" anchor="ctr"/>
          <a:lstStyle/>
          <a:p>
            <a:pPr marL="0" indent="0">
              <a:buNone/>
            </a:pPr>
            <a:r>
              <a:rPr lang="en-US" sz="1300" b="1" dirty="0">
                <a:solidFill>
                  <a:srgbClr val="0F2A4A"/>
                </a:solidFill>
                <a:latin typeface="Calibri" pitchFamily="34" charset="0"/>
                <a:ea typeface="Calibri" pitchFamily="34" charset="-122"/>
                <a:cs typeface="Calibri" pitchFamily="34" charset="-120"/>
              </a:rPr>
              <a:t>The website</a:t>
            </a:r>
            <a:endParaRPr lang="en-US" sz="1300" dirty="0"/>
          </a:p>
        </p:txBody>
      </p:sp>
      <p:sp>
        <p:nvSpPr>
          <p:cNvPr id="10" name="Text 7"/>
          <p:cNvSpPr/>
          <p:nvPr/>
        </p:nvSpPr>
        <p:spPr>
          <a:xfrm>
            <a:off x="685800" y="2400300"/>
            <a:ext cx="2228850" cy="822960"/>
          </a:xfrm>
          <a:prstGeom prst="rect">
            <a:avLst/>
          </a:prstGeom>
          <a:noFill/>
          <a:ln/>
        </p:spPr>
        <p:txBody>
          <a:bodyPr wrap="square" lIns="0" tIns="0" rIns="0" bIns="0" rtlCol="0" anchor="t"/>
          <a:lstStyle/>
          <a:p>
            <a:pPr marL="0" indent="0">
              <a:buNone/>
            </a:pPr>
            <a:r>
              <a:rPr lang="en-US" sz="950" dirty="0">
                <a:solidFill>
                  <a:srgbClr val="0F172A"/>
                </a:solidFill>
                <a:latin typeface="Calibri" pitchFamily="34" charset="0"/>
                <a:ea typeface="Calibri" pitchFamily="34" charset="-122"/>
                <a:cs typeface="Calibri" pitchFamily="34" charset="-120"/>
              </a:rPr>
              <a:t>What staff open in a browser. Served over a secure (HTTPS) connection, the same protection a bank's site uses.</a:t>
            </a:r>
            <a:endParaRPr lang="en-US" sz="950" dirty="0"/>
          </a:p>
        </p:txBody>
      </p:sp>
      <p:sp>
        <p:nvSpPr>
          <p:cNvPr id="11" name="Text 8"/>
          <p:cNvSpPr/>
          <p:nvPr/>
        </p:nvSpPr>
        <p:spPr>
          <a:xfrm>
            <a:off x="685800" y="3236976"/>
            <a:ext cx="2228850" cy="205740"/>
          </a:xfrm>
          <a:prstGeom prst="rect">
            <a:avLst/>
          </a:prstGeom>
          <a:noFill/>
          <a:ln/>
        </p:spPr>
        <p:txBody>
          <a:bodyPr wrap="square" lIns="0" tIns="0" rIns="0" bIns="0" rtlCol="0" anchor="ctr"/>
          <a:lstStyle/>
          <a:p>
            <a:pPr marL="0" indent="0">
              <a:buNone/>
            </a:pPr>
            <a:r>
              <a:rPr lang="en-US" sz="850" b="1" dirty="0">
                <a:solidFill>
                  <a:srgbClr val="B8892B"/>
                </a:solidFill>
                <a:latin typeface="Calibri" pitchFamily="34" charset="0"/>
                <a:ea typeface="Calibri" pitchFamily="34" charset="-122"/>
                <a:cs typeface="Calibri" pitchFamily="34" charset="-120"/>
              </a:rPr>
              <a:t>church-connect-omega.vercel.app</a:t>
            </a:r>
            <a:endParaRPr lang="en-US" sz="850" dirty="0"/>
          </a:p>
        </p:txBody>
      </p:sp>
      <p:sp>
        <p:nvSpPr>
          <p:cNvPr id="12" name="Shape 9"/>
          <p:cNvSpPr/>
          <p:nvPr/>
        </p:nvSpPr>
        <p:spPr>
          <a:xfrm>
            <a:off x="3257550" y="1371600"/>
            <a:ext cx="2640329" cy="2194560"/>
          </a:xfrm>
          <a:prstGeom prst="roundRect">
            <a:avLst>
              <a:gd name="adj" fmla="val 3750"/>
            </a:avLst>
          </a:prstGeom>
          <a:solidFill>
            <a:srgbClr val="FFFFFF"/>
          </a:solidFill>
          <a:ln w="12700">
            <a:solidFill>
              <a:srgbClr val="E2E8F0"/>
            </a:solidFill>
            <a:prstDash val="solid"/>
          </a:ln>
        </p:spPr>
        <p:txBody>
          <a:bodyPr/>
          <a:lstStyle/>
          <a:p>
            <a:endParaRPr lang="en-US"/>
          </a:p>
        </p:txBody>
      </p:sp>
      <p:sp>
        <p:nvSpPr>
          <p:cNvPr id="13" name="Shape 10"/>
          <p:cNvSpPr/>
          <p:nvPr/>
        </p:nvSpPr>
        <p:spPr>
          <a:xfrm>
            <a:off x="3463290" y="1577339"/>
            <a:ext cx="377190" cy="377190"/>
          </a:xfrm>
          <a:prstGeom prst="ellipse">
            <a:avLst/>
          </a:prstGeom>
          <a:solidFill>
            <a:srgbClr val="0F2A4A"/>
          </a:solidFill>
          <a:ln w="12700">
            <a:solidFill>
              <a:srgbClr val="0F2A4A"/>
            </a:solidFill>
            <a:prstDash val="solid"/>
          </a:ln>
        </p:spPr>
        <p:txBody>
          <a:bodyPr/>
          <a:lstStyle/>
          <a:p>
            <a:endParaRPr lang="en-US"/>
          </a:p>
        </p:txBody>
      </p:sp>
      <p:sp>
        <p:nvSpPr>
          <p:cNvPr id="14" name="Text 11"/>
          <p:cNvSpPr/>
          <p:nvPr/>
        </p:nvSpPr>
        <p:spPr>
          <a:xfrm>
            <a:off x="3463290" y="1577339"/>
            <a:ext cx="377190" cy="37719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5" name="Text 12"/>
          <p:cNvSpPr/>
          <p:nvPr/>
        </p:nvSpPr>
        <p:spPr>
          <a:xfrm>
            <a:off x="3463290" y="2091689"/>
            <a:ext cx="2228850" cy="274320"/>
          </a:xfrm>
          <a:prstGeom prst="rect">
            <a:avLst/>
          </a:prstGeom>
          <a:noFill/>
          <a:ln/>
        </p:spPr>
        <p:txBody>
          <a:bodyPr wrap="square" lIns="0" tIns="0" rIns="0" bIns="0" rtlCol="0" anchor="ctr"/>
          <a:lstStyle/>
          <a:p>
            <a:pPr marL="0" indent="0">
              <a:buNone/>
            </a:pPr>
            <a:r>
              <a:rPr lang="en-US" sz="1300" b="1" dirty="0">
                <a:solidFill>
                  <a:srgbClr val="0F2A4A"/>
                </a:solidFill>
                <a:latin typeface="Calibri" pitchFamily="34" charset="0"/>
                <a:ea typeface="Calibri" pitchFamily="34" charset="-122"/>
                <a:cs typeface="Calibri" pitchFamily="34" charset="-120"/>
              </a:rPr>
              <a:t>The application</a:t>
            </a:r>
            <a:endParaRPr lang="en-US" sz="1300" dirty="0"/>
          </a:p>
        </p:txBody>
      </p:sp>
      <p:sp>
        <p:nvSpPr>
          <p:cNvPr id="16" name="Text 13"/>
          <p:cNvSpPr/>
          <p:nvPr/>
        </p:nvSpPr>
        <p:spPr>
          <a:xfrm>
            <a:off x="3463290" y="2400300"/>
            <a:ext cx="2228850" cy="822960"/>
          </a:xfrm>
          <a:prstGeom prst="rect">
            <a:avLst/>
          </a:prstGeom>
          <a:noFill/>
          <a:ln/>
        </p:spPr>
        <p:txBody>
          <a:bodyPr wrap="square" lIns="0" tIns="0" rIns="0" bIns="0" rtlCol="0" anchor="t"/>
          <a:lstStyle/>
          <a:p>
            <a:pPr marL="0" indent="0">
              <a:buNone/>
            </a:pPr>
            <a:r>
              <a:rPr lang="en-US" sz="950" dirty="0">
                <a:solidFill>
                  <a:srgbClr val="0F172A"/>
                </a:solidFill>
                <a:latin typeface="Calibri" pitchFamily="34" charset="0"/>
                <a:ea typeface="Calibri" pitchFamily="34" charset="-122"/>
                <a:cs typeface="Calibri" pitchFamily="34" charset="-120"/>
              </a:rPr>
              <a:t>The part that enforces who may see what and records every action. Runs in a data centre in Frankfurt.</a:t>
            </a:r>
            <a:endParaRPr lang="en-US" sz="950" dirty="0"/>
          </a:p>
        </p:txBody>
      </p:sp>
      <p:sp>
        <p:nvSpPr>
          <p:cNvPr id="17" name="Text 14"/>
          <p:cNvSpPr/>
          <p:nvPr/>
        </p:nvSpPr>
        <p:spPr>
          <a:xfrm>
            <a:off x="3463290" y="3236976"/>
            <a:ext cx="2228850" cy="205740"/>
          </a:xfrm>
          <a:prstGeom prst="rect">
            <a:avLst/>
          </a:prstGeom>
          <a:noFill/>
          <a:ln/>
        </p:spPr>
        <p:txBody>
          <a:bodyPr wrap="square" lIns="0" tIns="0" rIns="0" bIns="0" rtlCol="0" anchor="ctr"/>
          <a:lstStyle/>
          <a:p>
            <a:pPr marL="0" indent="0">
              <a:buNone/>
            </a:pPr>
            <a:r>
              <a:rPr lang="en-US" sz="850" b="1" dirty="0">
                <a:solidFill>
                  <a:srgbClr val="B8892B"/>
                </a:solidFill>
                <a:latin typeface="Calibri" pitchFamily="34" charset="0"/>
                <a:ea typeface="Calibri" pitchFamily="34" charset="-122"/>
                <a:cs typeface="Calibri" pitchFamily="34" charset="-120"/>
              </a:rPr>
              <a:t>Render</a:t>
            </a:r>
            <a:endParaRPr lang="en-US" sz="850" dirty="0"/>
          </a:p>
        </p:txBody>
      </p:sp>
      <p:sp>
        <p:nvSpPr>
          <p:cNvPr id="18" name="Shape 15"/>
          <p:cNvSpPr/>
          <p:nvPr/>
        </p:nvSpPr>
        <p:spPr>
          <a:xfrm>
            <a:off x="6035040" y="1371600"/>
            <a:ext cx="2640329" cy="2194560"/>
          </a:xfrm>
          <a:prstGeom prst="roundRect">
            <a:avLst>
              <a:gd name="adj" fmla="val 3750"/>
            </a:avLst>
          </a:prstGeom>
          <a:solidFill>
            <a:srgbClr val="FFFFFF"/>
          </a:solidFill>
          <a:ln w="12700">
            <a:solidFill>
              <a:srgbClr val="E2E8F0"/>
            </a:solidFill>
            <a:prstDash val="solid"/>
          </a:ln>
        </p:spPr>
        <p:txBody>
          <a:bodyPr/>
          <a:lstStyle/>
          <a:p>
            <a:endParaRPr lang="en-US"/>
          </a:p>
        </p:txBody>
      </p:sp>
      <p:sp>
        <p:nvSpPr>
          <p:cNvPr id="19" name="Shape 16"/>
          <p:cNvSpPr/>
          <p:nvPr/>
        </p:nvSpPr>
        <p:spPr>
          <a:xfrm>
            <a:off x="6240780" y="1577339"/>
            <a:ext cx="377190" cy="377190"/>
          </a:xfrm>
          <a:prstGeom prst="ellipse">
            <a:avLst/>
          </a:prstGeom>
          <a:solidFill>
            <a:srgbClr val="0F2A4A"/>
          </a:solidFill>
          <a:ln w="12700">
            <a:solidFill>
              <a:srgbClr val="0F2A4A"/>
            </a:solidFill>
            <a:prstDash val="solid"/>
          </a:ln>
        </p:spPr>
        <p:txBody>
          <a:bodyPr/>
          <a:lstStyle/>
          <a:p>
            <a:endParaRPr lang="en-US"/>
          </a:p>
        </p:txBody>
      </p:sp>
      <p:sp>
        <p:nvSpPr>
          <p:cNvPr id="20" name="Text 17"/>
          <p:cNvSpPr/>
          <p:nvPr/>
        </p:nvSpPr>
        <p:spPr>
          <a:xfrm>
            <a:off x="6240780" y="1577339"/>
            <a:ext cx="377190" cy="377190"/>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1" name="Text 18"/>
          <p:cNvSpPr/>
          <p:nvPr/>
        </p:nvSpPr>
        <p:spPr>
          <a:xfrm>
            <a:off x="6240780" y="2091689"/>
            <a:ext cx="2228850" cy="274320"/>
          </a:xfrm>
          <a:prstGeom prst="rect">
            <a:avLst/>
          </a:prstGeom>
          <a:noFill/>
          <a:ln/>
        </p:spPr>
        <p:txBody>
          <a:bodyPr wrap="square" lIns="0" tIns="0" rIns="0" bIns="0" rtlCol="0" anchor="ctr"/>
          <a:lstStyle/>
          <a:p>
            <a:pPr marL="0" indent="0">
              <a:buNone/>
            </a:pPr>
            <a:r>
              <a:rPr lang="en-US" sz="1300" b="1" dirty="0">
                <a:solidFill>
                  <a:srgbClr val="0F2A4A"/>
                </a:solidFill>
                <a:latin typeface="Calibri" pitchFamily="34" charset="0"/>
                <a:ea typeface="Calibri" pitchFamily="34" charset="-122"/>
                <a:cs typeface="Calibri" pitchFamily="34" charset="-120"/>
              </a:rPr>
              <a:t>The database</a:t>
            </a:r>
            <a:endParaRPr lang="en-US" sz="1300" dirty="0"/>
          </a:p>
        </p:txBody>
      </p:sp>
      <p:sp>
        <p:nvSpPr>
          <p:cNvPr id="22" name="Text 19"/>
          <p:cNvSpPr/>
          <p:nvPr/>
        </p:nvSpPr>
        <p:spPr>
          <a:xfrm>
            <a:off x="6240780" y="2400300"/>
            <a:ext cx="2228850" cy="822960"/>
          </a:xfrm>
          <a:prstGeom prst="rect">
            <a:avLst/>
          </a:prstGeom>
          <a:noFill/>
          <a:ln/>
        </p:spPr>
        <p:txBody>
          <a:bodyPr wrap="square" lIns="0" tIns="0" rIns="0" bIns="0" rtlCol="0" anchor="t"/>
          <a:lstStyle/>
          <a:p>
            <a:pPr marL="0" indent="0">
              <a:buNone/>
            </a:pPr>
            <a:r>
              <a:rPr lang="en-US" sz="950" dirty="0">
                <a:solidFill>
                  <a:srgbClr val="0F172A"/>
                </a:solidFill>
                <a:latin typeface="Calibri" pitchFamily="34" charset="0"/>
                <a:ea typeface="Calibri" pitchFamily="34" charset="-122"/>
                <a:cs typeface="Calibri" pitchFamily="34" charset="-120"/>
              </a:rPr>
              <a:t>Member records, attendance and follow-ups. Hosted in Dublin, in the EU, with daily backups kept for seven days.</a:t>
            </a:r>
            <a:endParaRPr lang="en-US" sz="950" dirty="0"/>
          </a:p>
        </p:txBody>
      </p:sp>
      <p:sp>
        <p:nvSpPr>
          <p:cNvPr id="23" name="Text 20"/>
          <p:cNvSpPr/>
          <p:nvPr/>
        </p:nvSpPr>
        <p:spPr>
          <a:xfrm>
            <a:off x="6240780" y="3236976"/>
            <a:ext cx="2228850" cy="205740"/>
          </a:xfrm>
          <a:prstGeom prst="rect">
            <a:avLst/>
          </a:prstGeom>
          <a:noFill/>
          <a:ln/>
        </p:spPr>
        <p:txBody>
          <a:bodyPr wrap="square" lIns="0" tIns="0" rIns="0" bIns="0" rtlCol="0" anchor="ctr"/>
          <a:lstStyle/>
          <a:p>
            <a:pPr marL="0" indent="0">
              <a:buNone/>
            </a:pPr>
            <a:r>
              <a:rPr lang="en-US" sz="850" b="1" dirty="0">
                <a:solidFill>
                  <a:srgbClr val="B8892B"/>
                </a:solidFill>
                <a:latin typeface="Calibri" pitchFamily="34" charset="0"/>
                <a:ea typeface="Calibri" pitchFamily="34" charset="-122"/>
                <a:cs typeface="Calibri" pitchFamily="34" charset="-120"/>
              </a:rPr>
              <a:t>Supabase</a:t>
            </a:r>
            <a:endParaRPr lang="en-US" sz="850" dirty="0"/>
          </a:p>
        </p:txBody>
      </p:sp>
      <p:sp>
        <p:nvSpPr>
          <p:cNvPr id="24" name="Shape 21"/>
          <p:cNvSpPr/>
          <p:nvPr/>
        </p:nvSpPr>
        <p:spPr>
          <a:xfrm>
            <a:off x="480059" y="3771900"/>
            <a:ext cx="8181594" cy="685800"/>
          </a:xfrm>
          <a:prstGeom prst="rect">
            <a:avLst/>
          </a:prstGeom>
          <a:solidFill>
            <a:srgbClr val="EEF2F7"/>
          </a:solidFill>
          <a:ln w="12700">
            <a:solidFill>
              <a:srgbClr val="EEF2F7"/>
            </a:solidFill>
            <a:prstDash val="solid"/>
          </a:ln>
        </p:spPr>
        <p:txBody>
          <a:bodyPr/>
          <a:lstStyle/>
          <a:p>
            <a:endParaRPr lang="en-US"/>
          </a:p>
        </p:txBody>
      </p:sp>
      <p:sp>
        <p:nvSpPr>
          <p:cNvPr id="25" name="Text 22"/>
          <p:cNvSpPr/>
          <p:nvPr/>
        </p:nvSpPr>
        <p:spPr>
          <a:xfrm>
            <a:off x="685800" y="3854196"/>
            <a:ext cx="7749540" cy="534924"/>
          </a:xfrm>
          <a:prstGeom prst="rect">
            <a:avLst/>
          </a:prstGeom>
          <a:noFill/>
          <a:ln/>
        </p:spPr>
        <p:txBody>
          <a:bodyPr wrap="square" rtlCol="0" anchor="ctr"/>
          <a:lstStyle/>
          <a:p>
            <a:pPr marL="0" indent="0">
              <a:buNone/>
            </a:pPr>
            <a:r>
              <a:rPr lang="en-US" sz="1000" dirty="0">
                <a:solidFill>
                  <a:srgbClr val="0F2A4A"/>
                </a:solidFill>
                <a:latin typeface="Calibri" pitchFamily="34" charset="0"/>
                <a:ea typeface="Calibri" pitchFamily="34" charset="-122"/>
                <a:cs typeface="Calibri" pitchFamily="34" charset="-120"/>
              </a:rPr>
              <a:t>Only the application can reach the database. Nothing about our members is reachable from the public internet, and the member register has been checked against direct access.</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80059" y="638174"/>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BEING STRAIGHT WITH YOU</a:t>
            </a:r>
            <a:endParaRPr lang="en-US" sz="850" dirty="0"/>
          </a:p>
        </p:txBody>
      </p:sp>
      <p:sp>
        <p:nvSpPr>
          <p:cNvPr id="3" name="Text 1"/>
          <p:cNvSpPr/>
          <p:nvPr/>
        </p:nvSpPr>
        <p:spPr>
          <a:xfrm>
            <a:off x="480059" y="733423"/>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What it does not do</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sp>
        <p:nvSpPr>
          <p:cNvPr id="6" name="Text 3"/>
          <p:cNvSpPr/>
          <p:nvPr/>
        </p:nvSpPr>
        <p:spPr>
          <a:xfrm>
            <a:off x="651510" y="1508760"/>
            <a:ext cx="7886700" cy="3017520"/>
          </a:xfrm>
          <a:prstGeom prst="rect">
            <a:avLst/>
          </a:prstGeom>
          <a:noFill/>
          <a:ln/>
        </p:spPr>
        <p:txBody>
          <a:bodyPr wrap="square" rtlCol="0" anchor="t"/>
          <a:lstStyle/>
          <a:p>
            <a:pPr marL="342900" indent="-342900">
              <a:spcAft>
                <a:spcPts val="2000"/>
              </a:spcAft>
              <a:buSzPct val="100000"/>
              <a:buChar char="•"/>
            </a:pPr>
            <a:r>
              <a:rPr lang="en-US" sz="1350" dirty="0">
                <a:solidFill>
                  <a:srgbClr val="0F172A"/>
                </a:solidFill>
                <a:latin typeface="Calibri" pitchFamily="34" charset="0"/>
                <a:ea typeface="Calibri" pitchFamily="34" charset="-122"/>
                <a:cs typeface="Calibri" pitchFamily="34" charset="-120"/>
              </a:rPr>
              <a:t>It does not send SMS or emails  —  planned, not yet built</a:t>
            </a:r>
            <a:endParaRPr lang="en-US" sz="1350" dirty="0"/>
          </a:p>
          <a:p>
            <a:pPr marL="342900" indent="-342900">
              <a:spcAft>
                <a:spcPts val="2000"/>
              </a:spcAft>
              <a:buSzPct val="100000"/>
              <a:buChar char="•"/>
            </a:pPr>
            <a:r>
              <a:rPr lang="en-US" sz="1350" b="1" dirty="0">
                <a:solidFill>
                  <a:srgbClr val="B8892B"/>
                </a:solidFill>
                <a:latin typeface="Calibri" pitchFamily="34" charset="0"/>
                <a:ea typeface="Calibri" pitchFamily="34" charset="-122"/>
                <a:cs typeface="Calibri" pitchFamily="34" charset="-120"/>
              </a:rPr>
              <a:t>It does not replace pastoral visiting</a:t>
            </a:r>
            <a:endParaRPr lang="en-US" sz="1350" dirty="0"/>
          </a:p>
          <a:p>
            <a:pPr marL="342900" indent="-342900">
              <a:spcAft>
                <a:spcPts val="2000"/>
              </a:spcAft>
              <a:buSzPct val="100000"/>
              <a:buChar char="•"/>
            </a:pPr>
            <a:r>
              <a:rPr lang="en-US" sz="1350" dirty="0">
                <a:solidFill>
                  <a:srgbClr val="0F172A"/>
                </a:solidFill>
                <a:latin typeface="Calibri" pitchFamily="34" charset="0"/>
                <a:ea typeface="Calibri" pitchFamily="34" charset="-122"/>
                <a:cs typeface="Calibri" pitchFamily="34" charset="-120"/>
              </a:rPr>
              <a:t>It does not decide who is committed</a:t>
            </a:r>
            <a:endParaRPr lang="en-US" sz="1350" dirty="0"/>
          </a:p>
          <a:p>
            <a:pPr marL="342900" indent="-342900">
              <a:spcAft>
                <a:spcPts val="2000"/>
              </a:spcAft>
              <a:buSzPct val="100000"/>
              <a:buChar char="•"/>
            </a:pPr>
            <a:r>
              <a:rPr lang="en-US" sz="1350" dirty="0">
                <a:solidFill>
                  <a:srgbClr val="0F172A"/>
                </a:solidFill>
                <a:latin typeface="Calibri" pitchFamily="34" charset="0"/>
                <a:ea typeface="Calibri" pitchFamily="34" charset="-122"/>
                <a:cs typeface="Calibri" pitchFamily="34" charset="-120"/>
              </a:rPr>
              <a:t>It does not manage finances, tithes or donations  —  future</a:t>
            </a:r>
            <a:endParaRPr lang="en-US" sz="1350" dirty="0"/>
          </a:p>
        </p:txBody>
      </p:sp>
      <p:sp>
        <p:nvSpPr>
          <p:cNvPr id="7" name="Shape 4"/>
          <p:cNvSpPr/>
          <p:nvPr/>
        </p:nvSpPr>
        <p:spPr>
          <a:xfrm>
            <a:off x="480059" y="3326129"/>
            <a:ext cx="8181594" cy="925830"/>
          </a:xfrm>
          <a:prstGeom prst="rect">
            <a:avLst/>
          </a:prstGeom>
          <a:solidFill>
            <a:srgbClr val="0F2A4A"/>
          </a:solidFill>
          <a:ln w="12700">
            <a:solidFill>
              <a:srgbClr val="0F2A4A"/>
            </a:solidFill>
            <a:prstDash val="solid"/>
          </a:ln>
        </p:spPr>
        <p:txBody>
          <a:bodyPr/>
          <a:lstStyle/>
          <a:p>
            <a:endParaRPr lang="en-US"/>
          </a:p>
        </p:txBody>
      </p:sp>
      <p:sp>
        <p:nvSpPr>
          <p:cNvPr id="8" name="Text 5"/>
          <p:cNvSpPr/>
          <p:nvPr/>
        </p:nvSpPr>
        <p:spPr>
          <a:xfrm>
            <a:off x="754380" y="3463290"/>
            <a:ext cx="7612380" cy="685800"/>
          </a:xfrm>
          <a:prstGeom prst="rect">
            <a:avLst/>
          </a:prstGeom>
          <a:noFill/>
          <a:ln/>
        </p:spPr>
        <p:txBody>
          <a:bodyPr wrap="square" rtlCol="0" anchor="ctr"/>
          <a:lstStyle/>
          <a:p>
            <a:pPr marL="0" indent="0">
              <a:lnSpc>
                <a:spcPts val="3000"/>
              </a:lnSpc>
              <a:buNone/>
            </a:pPr>
            <a:r>
              <a:rPr lang="en-US" sz="1450" b="1" dirty="0">
                <a:solidFill>
                  <a:srgbClr val="FFFFFF"/>
                </a:solidFill>
                <a:latin typeface="Calibri" pitchFamily="34" charset="0"/>
                <a:ea typeface="Calibri" pitchFamily="34" charset="-122"/>
                <a:cs typeface="Calibri" pitchFamily="34" charset="-120"/>
              </a:rPr>
              <a:t>This system tells us who to visit.</a:t>
            </a:r>
            <a:endParaRPr lang="en-US" sz="1450" dirty="0"/>
          </a:p>
          <a:p>
            <a:pPr marL="0" indent="0">
              <a:lnSpc>
                <a:spcPts val="3000"/>
              </a:lnSpc>
              <a:buNone/>
            </a:pPr>
            <a:r>
              <a:rPr lang="en-US" sz="1450" b="1" dirty="0">
                <a:solidFill>
                  <a:srgbClr val="FFFFFF"/>
                </a:solidFill>
                <a:latin typeface="Calibri" pitchFamily="34" charset="0"/>
                <a:ea typeface="Calibri" pitchFamily="34" charset="-122"/>
                <a:cs typeface="Calibri" pitchFamily="34" charset="-120"/>
              </a:rPr>
              <a:t>It does not visit them. The ministry is still ours.</a:t>
            </a:r>
            <a:endParaRPr lang="en-US" sz="14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80059" y="507493"/>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DECISIONS NEEDED TODAY</a:t>
            </a:r>
            <a:endParaRPr lang="en-US" sz="850" dirty="0"/>
          </a:p>
        </p:txBody>
      </p:sp>
      <p:sp>
        <p:nvSpPr>
          <p:cNvPr id="3" name="Text 1"/>
          <p:cNvSpPr/>
          <p:nvPr/>
        </p:nvSpPr>
        <p:spPr>
          <a:xfrm>
            <a:off x="480059" y="617221"/>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What we are asking for</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sp>
        <p:nvSpPr>
          <p:cNvPr id="6" name="Shape 3"/>
          <p:cNvSpPr/>
          <p:nvPr/>
        </p:nvSpPr>
        <p:spPr>
          <a:xfrm>
            <a:off x="480059" y="1405889"/>
            <a:ext cx="377190" cy="377190"/>
          </a:xfrm>
          <a:prstGeom prst="ellipse">
            <a:avLst/>
          </a:prstGeom>
          <a:solidFill>
            <a:srgbClr val="0F2A4A"/>
          </a:solidFill>
          <a:ln w="12700">
            <a:solidFill>
              <a:srgbClr val="0F2A4A"/>
            </a:solidFill>
            <a:prstDash val="solid"/>
          </a:ln>
        </p:spPr>
        <p:txBody>
          <a:bodyPr/>
          <a:lstStyle/>
          <a:p>
            <a:endParaRPr lang="en-US"/>
          </a:p>
        </p:txBody>
      </p:sp>
      <p:sp>
        <p:nvSpPr>
          <p:cNvPr id="7" name="Text 4"/>
          <p:cNvSpPr/>
          <p:nvPr/>
        </p:nvSpPr>
        <p:spPr>
          <a:xfrm>
            <a:off x="480059" y="1405889"/>
            <a:ext cx="377190" cy="37719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5"/>
          <p:cNvSpPr/>
          <p:nvPr/>
        </p:nvSpPr>
        <p:spPr>
          <a:xfrm>
            <a:off x="994410" y="1405889"/>
            <a:ext cx="7612380" cy="37719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Approval to adopt the system — it is built, online and ready</a:t>
            </a:r>
            <a:endParaRPr lang="en-US" sz="1300" dirty="0"/>
          </a:p>
        </p:txBody>
      </p:sp>
      <p:sp>
        <p:nvSpPr>
          <p:cNvPr id="9" name="Shape 6"/>
          <p:cNvSpPr/>
          <p:nvPr/>
        </p:nvSpPr>
        <p:spPr>
          <a:xfrm>
            <a:off x="480059" y="1968245"/>
            <a:ext cx="377190" cy="377190"/>
          </a:xfrm>
          <a:prstGeom prst="ellipse">
            <a:avLst/>
          </a:prstGeom>
          <a:solidFill>
            <a:srgbClr val="0F2A4A"/>
          </a:solidFill>
          <a:ln w="12700">
            <a:solidFill>
              <a:srgbClr val="0F2A4A"/>
            </a:solidFill>
            <a:prstDash val="solid"/>
          </a:ln>
        </p:spPr>
        <p:txBody>
          <a:bodyPr/>
          <a:lstStyle/>
          <a:p>
            <a:endParaRPr lang="en-US"/>
          </a:p>
        </p:txBody>
      </p:sp>
      <p:sp>
        <p:nvSpPr>
          <p:cNvPr id="10" name="Text 7"/>
          <p:cNvSpPr/>
          <p:nvPr/>
        </p:nvSpPr>
        <p:spPr>
          <a:xfrm>
            <a:off x="480059" y="1968245"/>
            <a:ext cx="377190" cy="37719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1" name="Text 8"/>
          <p:cNvSpPr/>
          <p:nvPr/>
        </p:nvSpPr>
        <p:spPr>
          <a:xfrm>
            <a:off x="994410" y="1968245"/>
            <a:ext cx="7612380" cy="37719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A decision on our absence thresholds — is 2 / 3 / 4 services right for us?</a:t>
            </a:r>
            <a:endParaRPr lang="en-US" sz="1300" dirty="0"/>
          </a:p>
        </p:txBody>
      </p:sp>
      <p:sp>
        <p:nvSpPr>
          <p:cNvPr id="12" name="Shape 9"/>
          <p:cNvSpPr/>
          <p:nvPr/>
        </p:nvSpPr>
        <p:spPr>
          <a:xfrm>
            <a:off x="480059" y="2530602"/>
            <a:ext cx="377190" cy="377190"/>
          </a:xfrm>
          <a:prstGeom prst="ellipse">
            <a:avLst/>
          </a:prstGeom>
          <a:solidFill>
            <a:srgbClr val="0F2A4A"/>
          </a:solidFill>
          <a:ln w="12700">
            <a:solidFill>
              <a:srgbClr val="0F2A4A"/>
            </a:solidFill>
            <a:prstDash val="solid"/>
          </a:ln>
        </p:spPr>
        <p:txBody>
          <a:bodyPr/>
          <a:lstStyle/>
          <a:p>
            <a:endParaRPr lang="en-US"/>
          </a:p>
        </p:txBody>
      </p:sp>
      <p:sp>
        <p:nvSpPr>
          <p:cNvPr id="13" name="Text 10"/>
          <p:cNvSpPr/>
          <p:nvPr/>
        </p:nvSpPr>
        <p:spPr>
          <a:xfrm>
            <a:off x="480059" y="2530602"/>
            <a:ext cx="377190" cy="37719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4" name="Text 11"/>
          <p:cNvSpPr/>
          <p:nvPr/>
        </p:nvSpPr>
        <p:spPr>
          <a:xfrm>
            <a:off x="994410" y="2530602"/>
            <a:ext cx="7612380" cy="37719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Names for the roles: who administers, who follows up</a:t>
            </a:r>
            <a:endParaRPr lang="en-US" sz="1300" dirty="0"/>
          </a:p>
        </p:txBody>
      </p:sp>
      <p:sp>
        <p:nvSpPr>
          <p:cNvPr id="15" name="Shape 12"/>
          <p:cNvSpPr/>
          <p:nvPr/>
        </p:nvSpPr>
        <p:spPr>
          <a:xfrm>
            <a:off x="480059" y="3092958"/>
            <a:ext cx="377190" cy="377190"/>
          </a:xfrm>
          <a:prstGeom prst="ellipse">
            <a:avLst/>
          </a:prstGeom>
          <a:solidFill>
            <a:srgbClr val="B8892B"/>
          </a:solidFill>
          <a:ln w="12700">
            <a:solidFill>
              <a:srgbClr val="B8892B"/>
            </a:solidFill>
            <a:prstDash val="solid"/>
          </a:ln>
        </p:spPr>
        <p:txBody>
          <a:bodyPr/>
          <a:lstStyle/>
          <a:p>
            <a:endParaRPr lang="en-US"/>
          </a:p>
        </p:txBody>
      </p:sp>
      <p:sp>
        <p:nvSpPr>
          <p:cNvPr id="16" name="Text 13"/>
          <p:cNvSpPr/>
          <p:nvPr/>
        </p:nvSpPr>
        <p:spPr>
          <a:xfrm>
            <a:off x="480059" y="3092958"/>
            <a:ext cx="377190" cy="37719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17" name="Text 14"/>
          <p:cNvSpPr/>
          <p:nvPr/>
        </p:nvSpPr>
        <p:spPr>
          <a:xfrm>
            <a:off x="994410" y="3092958"/>
            <a:ext cx="7612380" cy="377190"/>
          </a:xfrm>
          <a:prstGeom prst="rect">
            <a:avLst/>
          </a:prstGeom>
          <a:noFill/>
          <a:ln/>
        </p:spPr>
        <p:txBody>
          <a:bodyPr wrap="square" rtlCol="0" anchor="ctr"/>
          <a:lstStyle/>
          <a:p>
            <a:pPr marL="0" indent="0">
              <a:buNone/>
            </a:pPr>
            <a:r>
              <a:rPr lang="en-US" sz="1300" b="1" dirty="0">
                <a:solidFill>
                  <a:srgbClr val="0F2A4A"/>
                </a:solidFill>
                <a:latin typeface="Calibri" pitchFamily="34" charset="0"/>
                <a:ea typeface="Calibri" pitchFamily="34" charset="-122"/>
                <a:cs typeface="Calibri" pitchFamily="34" charset="-120"/>
              </a:rPr>
              <a:t>Agreement to record attendance BY NAME, every Sunday</a:t>
            </a:r>
            <a:endParaRPr lang="en-US" sz="1300" dirty="0"/>
          </a:p>
        </p:txBody>
      </p:sp>
      <p:sp>
        <p:nvSpPr>
          <p:cNvPr id="18" name="Shape 15"/>
          <p:cNvSpPr/>
          <p:nvPr/>
        </p:nvSpPr>
        <p:spPr>
          <a:xfrm>
            <a:off x="480059" y="3655314"/>
            <a:ext cx="377190" cy="377190"/>
          </a:xfrm>
          <a:prstGeom prst="ellipse">
            <a:avLst/>
          </a:prstGeom>
          <a:solidFill>
            <a:srgbClr val="0F2A4A"/>
          </a:solidFill>
          <a:ln w="12700">
            <a:solidFill>
              <a:srgbClr val="0F2A4A"/>
            </a:solidFill>
            <a:prstDash val="solid"/>
          </a:ln>
        </p:spPr>
        <p:txBody>
          <a:bodyPr/>
          <a:lstStyle/>
          <a:p>
            <a:endParaRPr lang="en-US"/>
          </a:p>
        </p:txBody>
      </p:sp>
      <p:sp>
        <p:nvSpPr>
          <p:cNvPr id="19" name="Text 16"/>
          <p:cNvSpPr/>
          <p:nvPr/>
        </p:nvSpPr>
        <p:spPr>
          <a:xfrm>
            <a:off x="480059" y="3655314"/>
            <a:ext cx="377190" cy="377190"/>
          </a:xfrm>
          <a:prstGeom prst="rect">
            <a:avLst/>
          </a:prstGeom>
          <a:noFill/>
          <a:ln/>
        </p:spPr>
        <p:txBody>
          <a:bodyPr wrap="square"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0" name="Text 17"/>
          <p:cNvSpPr/>
          <p:nvPr/>
        </p:nvSpPr>
        <p:spPr>
          <a:xfrm>
            <a:off x="994410" y="3655314"/>
            <a:ext cx="7612380" cy="377190"/>
          </a:xfrm>
          <a:prstGeom prst="rect">
            <a:avLst/>
          </a:prstGeom>
          <a:noFill/>
          <a:ln/>
        </p:spPr>
        <p:txBody>
          <a:bodyPr wrap="square" rtlCol="0" anchor="ctr"/>
          <a:lstStyle/>
          <a:p>
            <a:pPr marL="0" indent="0">
              <a:buNone/>
            </a:pPr>
            <a:r>
              <a:rPr lang="en-US" sz="1300" dirty="0">
                <a:solidFill>
                  <a:srgbClr val="0F172A"/>
                </a:solidFill>
                <a:latin typeface="Calibri" pitchFamily="34" charset="0"/>
                <a:ea typeface="Calibri" pitchFamily="34" charset="-122"/>
                <a:cs typeface="Calibri" pitchFamily="34" charset="-120"/>
              </a:rPr>
              <a:t>A start date for entering the existing register</a:t>
            </a:r>
            <a:endParaRPr lang="en-US" sz="1300" dirty="0"/>
          </a:p>
        </p:txBody>
      </p:sp>
      <p:sp>
        <p:nvSpPr>
          <p:cNvPr id="21" name="Text 18"/>
          <p:cNvSpPr/>
          <p:nvPr/>
        </p:nvSpPr>
        <p:spPr>
          <a:xfrm>
            <a:off x="480059" y="4251959"/>
            <a:ext cx="8161019" cy="274320"/>
          </a:xfrm>
          <a:prstGeom prst="rect">
            <a:avLst/>
          </a:prstGeom>
          <a:noFill/>
          <a:ln/>
        </p:spPr>
        <p:txBody>
          <a:bodyPr wrap="square" rtlCol="0" anchor="ctr"/>
          <a:lstStyle/>
          <a:p>
            <a:pPr marL="0" indent="0">
              <a:buNone/>
            </a:pPr>
            <a:r>
              <a:rPr lang="en-US" sz="1050" b="1" dirty="0">
                <a:solidFill>
                  <a:srgbClr val="B8892B"/>
                </a:solidFill>
                <a:latin typeface="Calibri" pitchFamily="34" charset="0"/>
                <a:ea typeface="Calibri" pitchFamily="34" charset="-122"/>
                <a:cs typeface="Calibri" pitchFamily="34" charset="-120"/>
              </a:rPr>
              <a:t>Point 4 decides whether this succeeds or fails.</a:t>
            </a:r>
            <a:endParaRPr lang="en-US" sz="10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8FAFC"/>
        </a:solidFill>
        <a:effectLst/>
      </p:bgPr>
    </p:bg>
    <p:spTree>
      <p:nvGrpSpPr>
        <p:cNvPr id="1" name=""/>
        <p:cNvGrpSpPr/>
        <p:nvPr/>
      </p:nvGrpSpPr>
      <p:grpSpPr>
        <a:xfrm>
          <a:off x="0" y="0"/>
          <a:ext cx="0" cy="0"/>
          <a:chOff x="0" y="0"/>
          <a:chExt cx="0" cy="0"/>
        </a:xfrm>
      </p:grpSpPr>
      <p:sp>
        <p:nvSpPr>
          <p:cNvPr id="2" name="Text 0"/>
          <p:cNvSpPr/>
          <p:nvPr/>
        </p:nvSpPr>
        <p:spPr>
          <a:xfrm>
            <a:off x="480059" y="637794"/>
            <a:ext cx="8161019" cy="192024"/>
          </a:xfrm>
          <a:prstGeom prst="rect">
            <a:avLst/>
          </a:prstGeom>
          <a:noFill/>
          <a:ln/>
        </p:spPr>
        <p:txBody>
          <a:bodyPr wrap="square" rtlCol="0" anchor="ctr"/>
          <a:lstStyle/>
          <a:p>
            <a:pPr marL="0" indent="0">
              <a:buNone/>
            </a:pPr>
            <a:r>
              <a:rPr lang="en-US" sz="850" b="1" kern="0" spc="200" dirty="0">
                <a:solidFill>
                  <a:srgbClr val="B8892B"/>
                </a:solidFill>
                <a:latin typeface="Calibri" pitchFamily="34" charset="0"/>
                <a:ea typeface="Calibri" pitchFamily="34" charset="-122"/>
                <a:cs typeface="Calibri" pitchFamily="34" charset="-120"/>
              </a:rPr>
              <a:t>GETTING THERE</a:t>
            </a:r>
            <a:endParaRPr lang="en-US" sz="850" dirty="0"/>
          </a:p>
        </p:txBody>
      </p:sp>
      <p:sp>
        <p:nvSpPr>
          <p:cNvPr id="3" name="Text 1"/>
          <p:cNvSpPr/>
          <p:nvPr/>
        </p:nvSpPr>
        <p:spPr>
          <a:xfrm>
            <a:off x="480059" y="733806"/>
            <a:ext cx="8161019" cy="514350"/>
          </a:xfrm>
          <a:prstGeom prst="rect">
            <a:avLst/>
          </a:prstGeom>
          <a:noFill/>
          <a:ln/>
        </p:spPr>
        <p:txBody>
          <a:bodyPr wrap="square" rtlCol="0" anchor="ctr"/>
          <a:lstStyle/>
          <a:p>
            <a:pPr marL="0" indent="0">
              <a:buNone/>
            </a:pPr>
            <a:r>
              <a:rPr lang="en-US" sz="2250" b="1" dirty="0">
                <a:solidFill>
                  <a:srgbClr val="0F2A4A"/>
                </a:solidFill>
                <a:latin typeface="Calibri" pitchFamily="34" charset="0"/>
                <a:ea typeface="Calibri" pitchFamily="34" charset="-122"/>
                <a:cs typeface="Calibri" pitchFamily="34" charset="-120"/>
              </a:rPr>
              <a:t>Suggested rollout</a:t>
            </a:r>
            <a:endParaRPr lang="en-US" sz="2250" dirty="0"/>
          </a:p>
        </p:txBody>
      </p:sp>
      <p:sp>
        <p:nvSpPr>
          <p:cNvPr id="4" name="Text 2"/>
          <p:cNvSpPr/>
          <p:nvPr/>
        </p:nvSpPr>
        <p:spPr>
          <a:xfrm>
            <a:off x="480059" y="4745736"/>
            <a:ext cx="4114800" cy="205740"/>
          </a:xfrm>
          <a:prstGeom prst="rect">
            <a:avLst/>
          </a:prstGeom>
          <a:noFill/>
          <a:ln/>
        </p:spPr>
        <p:txBody>
          <a:bodyPr wrap="square" rtlCol="0" anchor="ctr"/>
          <a:lstStyle/>
          <a:p>
            <a:pPr marL="0" indent="0">
              <a:buNone/>
            </a:pPr>
            <a:r>
              <a:rPr lang="en-US" sz="800" dirty="0">
                <a:solidFill>
                  <a:srgbClr val="64748B"/>
                </a:solidFill>
                <a:latin typeface="Calibri" pitchFamily="34" charset="0"/>
                <a:ea typeface="Calibri" pitchFamily="34" charset="-122"/>
                <a:cs typeface="Calibri" pitchFamily="34" charset="-120"/>
              </a:rPr>
              <a:t>Redemption Temple AG  ·  RT AG Connect</a:t>
            </a:r>
            <a:endParaRPr lang="en-US" sz="800" dirty="0"/>
          </a:p>
        </p:txBody>
      </p:sp>
      <p:pic>
        <p:nvPicPr>
          <p:cNvPr id="5" name="Image 0" descr="C:\Users\ANP\Desktop\churchconnect\client\public\logo.png"/>
          <p:cNvPicPr>
            <a:picLocks noChangeAspect="1"/>
          </p:cNvPicPr>
          <p:nvPr/>
        </p:nvPicPr>
        <p:blipFill>
          <a:blip r:embed="rId3"/>
          <a:stretch>
            <a:fillRect/>
          </a:stretch>
        </p:blipFill>
        <p:spPr>
          <a:xfrm>
            <a:off x="8401050" y="4677156"/>
            <a:ext cx="288036" cy="288036"/>
          </a:xfrm>
          <a:prstGeom prst="rect">
            <a:avLst/>
          </a:prstGeom>
        </p:spPr>
      </p:pic>
      <p:graphicFrame>
        <p:nvGraphicFramePr>
          <p:cNvPr id="22" name="Table 0"/>
          <p:cNvGraphicFramePr>
            <a:graphicFrameLocks noGrp="1"/>
          </p:cNvGraphicFramePr>
          <p:nvPr>
            <p:extLst>
              <p:ext uri="{D42A27DB-BD31-4B8C-83A1-F6EECF244321}">
                <p14:modId xmlns:p14="http://schemas.microsoft.com/office/powerpoint/2010/main" val="121078815"/>
              </p:ext>
            </p:extLst>
          </p:nvPr>
        </p:nvGraphicFramePr>
        <p:xfrm>
          <a:off x="480059" y="1440180"/>
          <a:ext cx="8181594" cy="2218944"/>
        </p:xfrm>
        <a:graphic>
          <a:graphicData uri="http://schemas.openxmlformats.org/drawingml/2006/table">
            <a:tbl>
              <a:tblPr/>
              <a:tblGrid>
                <a:gridCol w="891540">
                  <a:extLst>
                    <a:ext uri="{9D8B030D-6E8A-4147-A177-3AD203B41FA5}">
                      <a16:colId xmlns:a16="http://schemas.microsoft.com/office/drawing/2014/main" val="20000"/>
                    </a:ext>
                  </a:extLst>
                </a:gridCol>
                <a:gridCol w="5575554">
                  <a:extLst>
                    <a:ext uri="{9D8B030D-6E8A-4147-A177-3AD203B41FA5}">
                      <a16:colId xmlns:a16="http://schemas.microsoft.com/office/drawing/2014/main" val="20001"/>
                    </a:ext>
                  </a:extLst>
                </a:gridCol>
                <a:gridCol w="1714500">
                  <a:extLst>
                    <a:ext uri="{9D8B030D-6E8A-4147-A177-3AD203B41FA5}">
                      <a16:colId xmlns:a16="http://schemas.microsoft.com/office/drawing/2014/main" val="20002"/>
                    </a:ext>
                  </a:extLst>
                </a:gridCol>
              </a:tblGrid>
              <a:tr h="190500">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Phase</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A4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What happens</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A4A"/>
                    </a:solidFill>
                  </a:tcPr>
                </a:tc>
                <a:tc>
                  <a:txBody>
                    <a:bodyPr/>
                    <a:lstStyle/>
                    <a:p>
                      <a:pPr marL="0" indent="0">
                        <a:buNone/>
                      </a:pPr>
                      <a:r>
                        <a:rPr lang="en-US" sz="1000" b="1" dirty="0">
                          <a:solidFill>
                            <a:srgbClr val="FFFFFF"/>
                          </a:solidFill>
                          <a:latin typeface="Calibri" pitchFamily="34" charset="0"/>
                          <a:ea typeface="Calibri" pitchFamily="34" charset="-122"/>
                          <a:cs typeface="Calibri" pitchFamily="34" charset="-120"/>
                        </a:rPr>
                        <a:t>Rough time</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0F2A4A"/>
                    </a:solidFill>
                  </a:tcPr>
                </a:tc>
                <a:extLst>
                  <a:ext uri="{0D108BD9-81ED-4DB2-BD59-A6C34878D82A}">
                    <a16:rowId xmlns:a16="http://schemas.microsoft.com/office/drawing/2014/main" val="10000"/>
                  </a:ext>
                </a:extLst>
              </a:tr>
              <a:tr h="190500">
                <a:tc>
                  <a:txBody>
                    <a:bodyPr/>
                    <a:lstStyle/>
                    <a:p>
                      <a:pPr marL="0" indent="0">
                        <a:buNone/>
                      </a:pPr>
                      <a:r>
                        <a:rPr lang="en-US" sz="1000" b="1" dirty="0">
                          <a:solidFill>
                            <a:srgbClr val="0CA30C"/>
                          </a:solidFill>
                          <a:latin typeface="Calibri" pitchFamily="34" charset="0"/>
                          <a:ea typeface="Calibri" pitchFamily="34" charset="-122"/>
                          <a:cs typeface="Calibri" pitchFamily="34" charset="-120"/>
                        </a:rPr>
                        <a:t>✓</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64748B"/>
                          </a:solidFill>
                          <a:latin typeface="Calibri" pitchFamily="34" charset="0"/>
                          <a:ea typeface="Calibri" pitchFamily="34" charset="-122"/>
                          <a:cs typeface="Calibri" pitchFamily="34" charset="-120"/>
                        </a:rPr>
                        <a:t>System set up and online; departments and groups entered</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0CA30C"/>
                          </a:solidFill>
                          <a:latin typeface="Calibri" pitchFamily="34" charset="0"/>
                          <a:ea typeface="Calibri" pitchFamily="34" charset="-122"/>
                          <a:cs typeface="Calibri" pitchFamily="34" charset="-120"/>
                        </a:rPr>
                        <a:t>Done</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190500">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1</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Enter existing members</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Weeks 1–3</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extLst>
                  <a:ext uri="{0D108BD9-81ED-4DB2-BD59-A6C34878D82A}">
                    <a16:rowId xmlns:a16="http://schemas.microsoft.com/office/drawing/2014/main" val="10002"/>
                  </a:ext>
                </a:extLst>
              </a:tr>
              <a:tr h="190500">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2</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Train the administrator and ushers</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Week 3</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190500">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3</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Record attendance every Sunday</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From week 4</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extLst>
                  <a:ext uri="{0D108BD9-81ED-4DB2-BD59-A6C34878D82A}">
                    <a16:rowId xmlns:a16="http://schemas.microsoft.com/office/drawing/2014/main" val="10004"/>
                  </a:ext>
                </a:extLst>
              </a:tr>
              <a:tr h="190500">
                <a:tc>
                  <a:txBody>
                    <a:bodyPr/>
                    <a:lstStyle/>
                    <a:p>
                      <a:pPr marL="0" indent="0">
                        <a:buNone/>
                      </a:pPr>
                      <a:r>
                        <a:rPr lang="en-US" sz="1000" b="1" dirty="0">
                          <a:solidFill>
                            <a:srgbClr val="0F172A"/>
                          </a:solidFill>
                          <a:latin typeface="Calibri" pitchFamily="34" charset="0"/>
                          <a:ea typeface="Calibri" pitchFamily="34" charset="-122"/>
                          <a:cs typeface="Calibri" pitchFamily="34" charset="-120"/>
                        </a:rPr>
                        <a:t>4</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0F2A4A"/>
                          </a:solidFill>
                          <a:latin typeface="Calibri" pitchFamily="34" charset="0"/>
                          <a:ea typeface="Calibri" pitchFamily="34" charset="-122"/>
                          <a:cs typeface="Calibri" pitchFamily="34" charset="-120"/>
                        </a:rPr>
                        <a:t>First alerts appear; train leaders on follow-up</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tc>
                  <a:txBody>
                    <a:bodyPr/>
                    <a:lstStyle/>
                    <a:p>
                      <a:pPr marL="0" indent="0">
                        <a:buNone/>
                      </a:pPr>
                      <a:r>
                        <a:rPr lang="en-US" sz="1000" b="1" dirty="0">
                          <a:solidFill>
                            <a:srgbClr val="0F172A"/>
                          </a:solidFill>
                          <a:latin typeface="Calibri" pitchFamily="34" charset="0"/>
                          <a:ea typeface="Calibri" pitchFamily="34" charset="-122"/>
                          <a:cs typeface="Calibri" pitchFamily="34" charset="-120"/>
                        </a:rPr>
                        <a:t>Week 6</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190500">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5</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First full report to the board</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tc>
                  <a:txBody>
                    <a:bodyPr/>
                    <a:lstStyle/>
                    <a:p>
                      <a:pPr marL="0" indent="0">
                        <a:buNone/>
                      </a:pPr>
                      <a:r>
                        <a:rPr lang="en-US" sz="1000" dirty="0">
                          <a:solidFill>
                            <a:srgbClr val="0F172A"/>
                          </a:solidFill>
                          <a:latin typeface="Calibri" pitchFamily="34" charset="0"/>
                          <a:ea typeface="Calibri" pitchFamily="34" charset="-122"/>
                          <a:cs typeface="Calibri" pitchFamily="34" charset="-120"/>
                        </a:rPr>
                        <a:t>Week 8</a:t>
                      </a:r>
                      <a:endParaRPr lang="en-US" sz="1000" dirty="0">
                        <a:latin typeface="Calibri" charset="0"/>
                        <a:ea typeface="Calibri" charset="0"/>
                        <a:cs typeface="Calibri" charset="0"/>
                      </a:endParaRPr>
                    </a:p>
                  </a:txBody>
                  <a:tcPr marL="82296" marR="82296" marT="82296" marB="82296" anchor="ctr">
                    <a:lnL w="12700" cap="flat" cmpd="sng" algn="ctr">
                      <a:solidFill>
                        <a:srgbClr val="E2E8F0"/>
                      </a:solidFill>
                      <a:prstDash val="solid"/>
                      <a:round/>
                      <a:headEnd type="none" w="med" len="med"/>
                      <a:tailEnd type="none" w="med" len="med"/>
                    </a:lnL>
                    <a:lnR w="12700" cap="flat" cmpd="sng" algn="ctr">
                      <a:solidFill>
                        <a:srgbClr val="E2E8F0"/>
                      </a:solidFill>
                      <a:prstDash val="solid"/>
                      <a:round/>
                      <a:headEnd type="none" w="med" len="med"/>
                      <a:tailEnd type="none" w="med" len="med"/>
                    </a:lnR>
                    <a:lnT w="12700" cap="flat" cmpd="sng" algn="ctr">
                      <a:solidFill>
                        <a:srgbClr val="E2E8F0"/>
                      </a:solidFill>
                      <a:prstDash val="solid"/>
                      <a:round/>
                      <a:headEnd type="none" w="med" len="med"/>
                      <a:tailEnd type="none" w="med" len="med"/>
                    </a:lnT>
                    <a:lnB w="12700" cap="flat" cmpd="sng" algn="ctr">
                      <a:solidFill>
                        <a:srgbClr val="E2E8F0"/>
                      </a:solidFill>
                      <a:prstDash val="solid"/>
                      <a:round/>
                      <a:headEnd type="none" w="med" len="med"/>
                      <a:tailEnd type="none" w="med" len="med"/>
                    </a:lnB>
                    <a:solidFill>
                      <a:srgbClr val="EEF2F7"/>
                    </a:solidFill>
                  </a:tcPr>
                </a:tc>
                <a:extLst>
                  <a:ext uri="{0D108BD9-81ED-4DB2-BD59-A6C34878D82A}">
                    <a16:rowId xmlns:a16="http://schemas.microsoft.com/office/drawing/2014/main" val="10006"/>
                  </a:ext>
                </a:extLst>
              </a:tr>
            </a:tbl>
          </a:graphicData>
        </a:graphic>
      </p:graphicFrame>
      <p:sp>
        <p:nvSpPr>
          <p:cNvPr id="7" name="Shape 3"/>
          <p:cNvSpPr/>
          <p:nvPr/>
        </p:nvSpPr>
        <p:spPr>
          <a:xfrm>
            <a:off x="480059" y="3771900"/>
            <a:ext cx="8181594" cy="685800"/>
          </a:xfrm>
          <a:prstGeom prst="rect">
            <a:avLst/>
          </a:prstGeom>
          <a:solidFill>
            <a:srgbClr val="EEF2F7"/>
          </a:solidFill>
          <a:ln w="12700">
            <a:solidFill>
              <a:srgbClr val="EEF2F7"/>
            </a:solidFill>
            <a:prstDash val="solid"/>
          </a:ln>
        </p:spPr>
        <p:txBody>
          <a:bodyPr/>
          <a:lstStyle/>
          <a:p>
            <a:endParaRPr lang="en-US"/>
          </a:p>
        </p:txBody>
      </p:sp>
      <p:sp>
        <p:nvSpPr>
          <p:cNvPr id="8" name="Text 4"/>
          <p:cNvSpPr/>
          <p:nvPr/>
        </p:nvSpPr>
        <p:spPr>
          <a:xfrm>
            <a:off x="685800" y="3922776"/>
            <a:ext cx="7749540" cy="411480"/>
          </a:xfrm>
          <a:prstGeom prst="rect">
            <a:avLst/>
          </a:prstGeom>
          <a:noFill/>
          <a:ln/>
        </p:spPr>
        <p:txBody>
          <a:bodyPr wrap="square" rtlCol="0" anchor="ctr"/>
          <a:lstStyle/>
          <a:p>
            <a:pPr marL="0" indent="0">
              <a:buNone/>
            </a:pPr>
            <a:r>
              <a:rPr lang="en-US" sz="1000" dirty="0">
                <a:solidFill>
                  <a:srgbClr val="0F2A4A"/>
                </a:solidFill>
                <a:latin typeface="Calibri" pitchFamily="34" charset="0"/>
                <a:ea typeface="Calibri" pitchFamily="34" charset="-122"/>
                <a:cs typeface="Calibri" pitchFamily="34" charset="-120"/>
              </a:rPr>
              <a:t>Alerts cannot appear until there are a few weeks of attendance to compare. Expect roughly two months to the first genuinely useful alert.</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F2A4A"/>
        </a:solidFill>
        <a:effectLst/>
      </p:bgPr>
    </p:bg>
    <p:spTree>
      <p:nvGrpSpPr>
        <p:cNvPr id="1" name=""/>
        <p:cNvGrpSpPr/>
        <p:nvPr/>
      </p:nvGrpSpPr>
      <p:grpSpPr>
        <a:xfrm>
          <a:off x="0" y="0"/>
          <a:ext cx="0" cy="0"/>
          <a:chOff x="0" y="0"/>
          <a:chExt cx="0" cy="0"/>
        </a:xfrm>
      </p:grpSpPr>
      <p:sp>
        <p:nvSpPr>
          <p:cNvPr id="2" name="Text 0"/>
          <p:cNvSpPr/>
          <p:nvPr/>
        </p:nvSpPr>
        <p:spPr>
          <a:xfrm>
            <a:off x="822960" y="1200150"/>
            <a:ext cx="7543800" cy="240029"/>
          </a:xfrm>
          <a:prstGeom prst="rect">
            <a:avLst/>
          </a:prstGeom>
          <a:noFill/>
          <a:ln/>
        </p:spPr>
        <p:txBody>
          <a:bodyPr wrap="square" rtlCol="0" anchor="ctr"/>
          <a:lstStyle/>
          <a:p>
            <a:pPr marL="0" indent="0">
              <a:buNone/>
            </a:pPr>
            <a:r>
              <a:rPr lang="en-US" sz="1000" b="1" kern="0" spc="250" dirty="0">
                <a:solidFill>
                  <a:srgbClr val="6A8AB0"/>
                </a:solidFill>
                <a:latin typeface="Calibri" pitchFamily="34" charset="0"/>
                <a:ea typeface="Calibri" pitchFamily="34" charset="-122"/>
                <a:cs typeface="Calibri" pitchFamily="34" charset="-120"/>
              </a:rPr>
              <a:t>BEFORE</a:t>
            </a:r>
            <a:endParaRPr lang="en-US" sz="1000" dirty="0"/>
          </a:p>
        </p:txBody>
      </p:sp>
      <p:sp>
        <p:nvSpPr>
          <p:cNvPr id="3" name="Text 1"/>
          <p:cNvSpPr/>
          <p:nvPr/>
        </p:nvSpPr>
        <p:spPr>
          <a:xfrm>
            <a:off x="822960" y="1474470"/>
            <a:ext cx="7406640" cy="411480"/>
          </a:xfrm>
          <a:prstGeom prst="rect">
            <a:avLst/>
          </a:prstGeom>
          <a:noFill/>
          <a:ln/>
        </p:spPr>
        <p:txBody>
          <a:bodyPr wrap="square" rtlCol="0" anchor="ctr"/>
          <a:lstStyle/>
          <a:p>
            <a:pPr marL="0" indent="0">
              <a:buNone/>
            </a:pPr>
            <a:r>
              <a:rPr lang="en-US" dirty="0">
                <a:solidFill>
                  <a:srgbClr val="9BB2CD"/>
                </a:solidFill>
                <a:latin typeface="Calibri" pitchFamily="34" charset="0"/>
                <a:ea typeface="Calibri" pitchFamily="34" charset="-122"/>
                <a:cs typeface="Calibri" pitchFamily="34" charset="-120"/>
              </a:rPr>
              <a:t>A member stops coming, and we notice months later.</a:t>
            </a:r>
            <a:endParaRPr lang="en-US" dirty="0"/>
          </a:p>
        </p:txBody>
      </p:sp>
      <p:sp>
        <p:nvSpPr>
          <p:cNvPr id="4" name="Shape 2"/>
          <p:cNvSpPr/>
          <p:nvPr/>
        </p:nvSpPr>
        <p:spPr>
          <a:xfrm>
            <a:off x="822960" y="2160270"/>
            <a:ext cx="7406640" cy="13716"/>
          </a:xfrm>
          <a:prstGeom prst="rect">
            <a:avLst/>
          </a:prstGeom>
          <a:solidFill>
            <a:srgbClr val="1B3050"/>
          </a:solidFill>
          <a:ln w="12700">
            <a:solidFill>
              <a:srgbClr val="1B3050"/>
            </a:solidFill>
            <a:prstDash val="solid"/>
          </a:ln>
        </p:spPr>
        <p:txBody>
          <a:bodyPr/>
          <a:lstStyle/>
          <a:p>
            <a:endParaRPr lang="en-US"/>
          </a:p>
        </p:txBody>
      </p:sp>
      <p:sp>
        <p:nvSpPr>
          <p:cNvPr id="5" name="Text 3"/>
          <p:cNvSpPr/>
          <p:nvPr/>
        </p:nvSpPr>
        <p:spPr>
          <a:xfrm>
            <a:off x="822960" y="2400300"/>
            <a:ext cx="7543800" cy="240029"/>
          </a:xfrm>
          <a:prstGeom prst="rect">
            <a:avLst/>
          </a:prstGeom>
          <a:noFill/>
          <a:ln/>
        </p:spPr>
        <p:txBody>
          <a:bodyPr wrap="square" rtlCol="0" anchor="ctr"/>
          <a:lstStyle/>
          <a:p>
            <a:pPr marL="0" indent="0">
              <a:buNone/>
            </a:pPr>
            <a:r>
              <a:rPr lang="en-US" sz="1000" b="1" kern="0" spc="250" dirty="0">
                <a:solidFill>
                  <a:srgbClr val="B8892B"/>
                </a:solidFill>
                <a:latin typeface="Calibri" pitchFamily="34" charset="0"/>
                <a:ea typeface="Calibri" pitchFamily="34" charset="-122"/>
                <a:cs typeface="Calibri" pitchFamily="34" charset="-120"/>
              </a:rPr>
              <a:t>AFTER</a:t>
            </a:r>
            <a:endParaRPr lang="en-US" sz="1000" dirty="0"/>
          </a:p>
        </p:txBody>
      </p:sp>
      <p:sp>
        <p:nvSpPr>
          <p:cNvPr id="6" name="Text 4"/>
          <p:cNvSpPr/>
          <p:nvPr/>
        </p:nvSpPr>
        <p:spPr>
          <a:xfrm>
            <a:off x="822960" y="2674620"/>
            <a:ext cx="7406640" cy="960119"/>
          </a:xfrm>
          <a:prstGeom prst="rect">
            <a:avLst/>
          </a:prstGeom>
          <a:noFill/>
          <a:ln/>
        </p:spPr>
        <p:txBody>
          <a:bodyPr wrap="square" rtlCol="0" anchor="ctr"/>
          <a:lstStyle/>
          <a:p>
            <a:pPr marL="0" indent="0">
              <a:lnSpc>
                <a:spcPts val="4000"/>
              </a:lnSpc>
              <a:buNone/>
            </a:pPr>
            <a:r>
              <a:rPr lang="en-US" sz="2100" b="1" dirty="0">
                <a:solidFill>
                  <a:srgbClr val="FFFFFF"/>
                </a:solidFill>
                <a:latin typeface="Calibri" pitchFamily="34" charset="0"/>
                <a:ea typeface="Calibri" pitchFamily="34" charset="-122"/>
                <a:cs typeface="Calibri" pitchFamily="34" charset="-120"/>
              </a:rPr>
              <a:t>A member misses two services, and someone is</a:t>
            </a:r>
            <a:endParaRPr lang="en-US" sz="2100" dirty="0"/>
          </a:p>
          <a:p>
            <a:pPr marL="0" indent="0">
              <a:lnSpc>
                <a:spcPts val="4000"/>
              </a:lnSpc>
              <a:buNone/>
            </a:pPr>
            <a:r>
              <a:rPr lang="en-US" sz="2100" b="1" dirty="0">
                <a:solidFill>
                  <a:srgbClr val="FFFFFF"/>
                </a:solidFill>
                <a:latin typeface="Calibri" pitchFamily="34" charset="0"/>
                <a:ea typeface="Calibri" pitchFamily="34" charset="-122"/>
                <a:cs typeface="Calibri" pitchFamily="34" charset="-120"/>
              </a:rPr>
              <a:t>holding their name by the following week.</a:t>
            </a:r>
            <a:endParaRPr lang="en-US" sz="2100" dirty="0"/>
          </a:p>
        </p:txBody>
      </p:sp>
      <p:sp>
        <p:nvSpPr>
          <p:cNvPr id="7" name="Text 5"/>
          <p:cNvSpPr/>
          <p:nvPr/>
        </p:nvSpPr>
        <p:spPr>
          <a:xfrm>
            <a:off x="822960" y="4251959"/>
            <a:ext cx="7543800" cy="274320"/>
          </a:xfrm>
          <a:prstGeom prst="rect">
            <a:avLst/>
          </a:prstGeom>
          <a:noFill/>
          <a:ln/>
        </p:spPr>
        <p:txBody>
          <a:bodyPr wrap="square" rtlCol="0" anchor="ctr"/>
          <a:lstStyle/>
          <a:p>
            <a:pPr marL="0" indent="0">
              <a:buNone/>
            </a:pPr>
            <a:r>
              <a:rPr lang="en-US" sz="1050" i="1" dirty="0">
                <a:solidFill>
                  <a:srgbClr val="DBB877"/>
                </a:solidFill>
                <a:latin typeface="Calibri" pitchFamily="34" charset="0"/>
                <a:ea typeface="Calibri" pitchFamily="34" charset="-122"/>
                <a:cs typeface="Calibri" pitchFamily="34" charset="-120"/>
              </a:rPr>
              <a:t>Redemption Temple AG  —  Connecting People. Strengthening the Church.</a:t>
            </a:r>
            <a:endParaRPr lang="en-US" sz="1050" dirty="0"/>
          </a:p>
        </p:txBody>
      </p:sp>
      <p:pic>
        <p:nvPicPr>
          <p:cNvPr id="8" name="Image 0" descr="C:\Users\ANP\Desktop\churchconnect\client\public\logo.png"/>
          <p:cNvPicPr>
            <a:picLocks noChangeAspect="1"/>
          </p:cNvPicPr>
          <p:nvPr/>
        </p:nvPicPr>
        <p:blipFill>
          <a:blip r:embed="rId3"/>
          <a:stretch>
            <a:fillRect/>
          </a:stretch>
        </p:blipFill>
        <p:spPr>
          <a:xfrm>
            <a:off x="7955280" y="4046220"/>
            <a:ext cx="685800" cy="6858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38"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DE8F8CEF-3398-42A2-AFE4-E0A898B5A6F4}">
  <we:reference id="WA200010725" version="1.0.0.1" store="Omex" storeType="OMEX"/>
  <we:alternateReferences>
    <we:reference id="WA200010725" version="1.0.0.1" store="WA200010725" storeType="OMEX"/>
  </we:alternateReferences>
  <we:properties>
    <we:property name="claude.fileId" value="&quot;d026520e-9927-4da6-8e7e-54a7aac0b3e5&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6</TotalTime>
  <Words>3919</Words>
  <Application>Microsoft Office PowerPoint</Application>
  <PresentationFormat>On-screen Show (16:9)</PresentationFormat>
  <Paragraphs>309</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RT AG Connect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RT AG Connect - Membership, Attendance &amp; Follow-Up</dc:title>
  <dc:subject>Leadership briefing</dc:subject>
  <dc:creator>RT AG Connect</dc:creator>
  <cp:lastModifiedBy>LOGISTICS &amp; OPERATIONS</cp:lastModifiedBy>
  <cp:revision>2</cp:revision>
  <dcterms:created xsi:type="dcterms:W3CDTF">2026-09-24T14:02:25Z</dcterms:created>
  <dcterms:modified xsi:type="dcterms:W3CDTF">2026-09-24T14:10:46Z</dcterms:modified>
</cp:coreProperties>
</file>